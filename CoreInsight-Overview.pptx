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4"/>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B140"/>
          </a:solidFill>
          <a:ln/>
        </p:spPr>
      </p:sp>
      <p:sp>
        <p:nvSpPr>
          <p:cNvPr id="3" name="Text 1"/>
          <p:cNvSpPr/>
          <p:nvPr/>
        </p:nvSpPr>
        <p:spPr>
          <a:xfrm>
            <a:off x="777240" y="2148840"/>
            <a:ext cx="10637215" cy="914400"/>
          </a:xfrm>
          <a:prstGeom prst="rect">
            <a:avLst/>
          </a:prstGeom>
          <a:noFill/>
          <a:ln/>
        </p:spPr>
        <p:txBody>
          <a:bodyPr wrap="square" rtlCol="0" anchor="ctr"/>
          <a:lstStyle/>
          <a:p>
            <a:pPr indent="0" marL="0">
              <a:buNone/>
            </a:pPr>
            <a:r>
              <a:rPr lang="en-US" sz="5200" b="1" dirty="0">
                <a:solidFill>
                  <a:srgbClr val="FFFFFF"/>
                </a:solidFill>
                <a:latin typeface="Arial" pitchFamily="34" charset="0"/>
                <a:ea typeface="Arial" pitchFamily="34" charset="-122"/>
                <a:cs typeface="Arial" pitchFamily="34" charset="-120"/>
              </a:rPr>
              <a:t>Core Insight</a:t>
            </a:r>
            <a:endParaRPr lang="en-US" sz="5200" dirty="0"/>
          </a:p>
        </p:txBody>
      </p:sp>
      <p:sp>
        <p:nvSpPr>
          <p:cNvPr id="4" name="Text 2"/>
          <p:cNvSpPr/>
          <p:nvPr/>
        </p:nvSpPr>
        <p:spPr>
          <a:xfrm>
            <a:off x="777240" y="3108960"/>
            <a:ext cx="10637215" cy="457200"/>
          </a:xfrm>
          <a:prstGeom prst="rect">
            <a:avLst/>
          </a:prstGeom>
          <a:noFill/>
          <a:ln/>
        </p:spPr>
        <p:txBody>
          <a:bodyPr wrap="square" rtlCol="0" anchor="ctr"/>
          <a:lstStyle/>
          <a:p>
            <a:pPr indent="0" marL="0">
              <a:buNone/>
            </a:pPr>
            <a:r>
              <a:rPr lang="en-US" sz="2000" dirty="0">
                <a:solidFill>
                  <a:srgbClr val="9AA7B4"/>
                </a:solidFill>
                <a:latin typeface="Arial" pitchFamily="34" charset="0"/>
                <a:ea typeface="Arial" pitchFamily="34" charset="-122"/>
                <a:cs typeface="Arial" pitchFamily="34" charset="-120"/>
              </a:rPr>
              <a:t>Turning NetAct KPI exports into decisions</a:t>
            </a:r>
            <a:endParaRPr lang="en-US" sz="2000" dirty="0"/>
          </a:p>
        </p:txBody>
      </p:sp>
      <p:sp>
        <p:nvSpPr>
          <p:cNvPr id="5" name="Shape 3"/>
          <p:cNvSpPr/>
          <p:nvPr/>
        </p:nvSpPr>
        <p:spPr>
          <a:xfrm>
            <a:off x="777240" y="3794760"/>
            <a:ext cx="1005840" cy="54864"/>
          </a:xfrm>
          <a:prstGeom prst="rect">
            <a:avLst/>
          </a:prstGeom>
          <a:solidFill>
            <a:srgbClr val="00B140"/>
          </a:solidFill>
          <a:ln/>
        </p:spPr>
      </p:sp>
      <p:sp>
        <p:nvSpPr>
          <p:cNvPr id="6" name="Text 4"/>
          <p:cNvSpPr/>
          <p:nvPr/>
        </p:nvSpPr>
        <p:spPr>
          <a:xfrm>
            <a:off x="777240" y="4114800"/>
            <a:ext cx="10637215" cy="365760"/>
          </a:xfrm>
          <a:prstGeom prst="rect">
            <a:avLst/>
          </a:prstGeom>
          <a:noFill/>
          <a:ln/>
        </p:spPr>
        <p:txBody>
          <a:bodyPr wrap="square" rtlCol="0" anchor="ctr"/>
          <a:lstStyle/>
          <a:p>
            <a:pPr indent="0" marL="0">
              <a:buNone/>
            </a:pPr>
            <a:r>
              <a:rPr lang="en-US" sz="1250" dirty="0">
                <a:solidFill>
                  <a:srgbClr val="6B7684"/>
                </a:solidFill>
                <a:latin typeface="Arial" pitchFamily="34" charset="0"/>
                <a:ea typeface="Arial" pitchFamily="34" charset="-122"/>
                <a:cs typeface="Arial" pitchFamily="34" charset="-120"/>
              </a:rPr>
              <a:t>Platform overview  ·  For the Core team, leadership and business stakeholders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WHY WE BUILT IT</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KPI reporting was manual, slow and inconsistent</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1</a:t>
            </a:r>
            <a:endParaRPr lang="en-US" sz="900" dirty="0"/>
          </a:p>
        </p:txBody>
      </p:sp>
      <p:sp>
        <p:nvSpPr>
          <p:cNvPr id="6" name="Shape 4"/>
          <p:cNvSpPr/>
          <p:nvPr/>
        </p:nvSpPr>
        <p:spPr>
          <a:xfrm>
            <a:off x="777240" y="1920240"/>
            <a:ext cx="3291840" cy="2103120"/>
          </a:xfrm>
          <a:prstGeom prst="roundRect">
            <a:avLst>
              <a:gd name="adj" fmla="val 2609"/>
            </a:avLst>
          </a:prstGeom>
          <a:solidFill>
            <a:srgbClr val="FFFFFF"/>
          </a:solidFill>
          <a:ln w="12700">
            <a:solidFill>
              <a:srgbClr val="DDE3EA"/>
            </a:solidFill>
            <a:prstDash val="solid"/>
          </a:ln>
        </p:spPr>
      </p:sp>
      <p:sp>
        <p:nvSpPr>
          <p:cNvPr id="7" name="Shape 5"/>
          <p:cNvSpPr/>
          <p:nvPr/>
        </p:nvSpPr>
        <p:spPr>
          <a:xfrm>
            <a:off x="777240" y="1920240"/>
            <a:ext cx="50292" cy="2103120"/>
          </a:xfrm>
          <a:prstGeom prst="rect">
            <a:avLst/>
          </a:prstGeom>
          <a:solidFill>
            <a:srgbClr val="00B140"/>
          </a:solidFill>
          <a:ln/>
        </p:spPr>
      </p:sp>
      <p:sp>
        <p:nvSpPr>
          <p:cNvPr id="8" name="Text 6"/>
          <p:cNvSpPr/>
          <p:nvPr/>
        </p:nvSpPr>
        <p:spPr>
          <a:xfrm>
            <a:off x="1051560" y="2194560"/>
            <a:ext cx="2743200" cy="365760"/>
          </a:xfrm>
          <a:prstGeom prst="rect">
            <a:avLst/>
          </a:prstGeom>
          <a:noFill/>
          <a:ln/>
        </p:spPr>
        <p:txBody>
          <a:bodyPr wrap="square" rtlCol="0" anchor="ctr"/>
          <a:lstStyle/>
          <a:p>
            <a:pPr indent="0" marL="0">
              <a:buNone/>
            </a:pPr>
            <a:r>
              <a:rPr lang="en-US" sz="1600" b="1" dirty="0">
                <a:solidFill>
                  <a:srgbClr val="0F1724"/>
                </a:solidFill>
                <a:latin typeface="Arial" pitchFamily="34" charset="0"/>
                <a:ea typeface="Arial" pitchFamily="34" charset="-122"/>
                <a:cs typeface="Arial" pitchFamily="34" charset="-120"/>
              </a:rPr>
              <a:t>Hours, not minutes</a:t>
            </a:r>
            <a:endParaRPr lang="en-US" sz="1600" dirty="0"/>
          </a:p>
        </p:txBody>
      </p:sp>
      <p:sp>
        <p:nvSpPr>
          <p:cNvPr id="9" name="Text 7"/>
          <p:cNvSpPr/>
          <p:nvPr/>
        </p:nvSpPr>
        <p:spPr>
          <a:xfrm>
            <a:off x="1051560" y="2651760"/>
            <a:ext cx="2743200" cy="1188720"/>
          </a:xfrm>
          <a:prstGeom prst="rect">
            <a:avLst/>
          </a:prstGeom>
          <a:noFill/>
          <a:ln/>
        </p:spPr>
        <p:txBody>
          <a:bodyPr wrap="square" rtlCol="0" anchor="ctr"/>
          <a:lstStyle/>
          <a:p>
            <a:pPr indent="0" marL="0">
              <a:lnSpc>
                <a:spcPct val="125000"/>
              </a:lnSpc>
              <a:buNone/>
            </a:pPr>
            <a:r>
              <a:rPr lang="en-US" sz="1200" dirty="0">
                <a:solidFill>
                  <a:srgbClr val="5B6478"/>
                </a:solidFill>
                <a:latin typeface="Arial" pitchFamily="34" charset="0"/>
                <a:ea typeface="Arial" pitchFamily="34" charset="-122"/>
                <a:cs typeface="Arial" pitchFamily="34" charset="-120"/>
              </a:rPr>
              <a:t>Each NetAct export was opened by hand, filtered, charted and pasted into a deck — repeated per KPI, per week.</a:t>
            </a:r>
            <a:endParaRPr lang="en-US" sz="1200" dirty="0"/>
          </a:p>
        </p:txBody>
      </p:sp>
      <p:sp>
        <p:nvSpPr>
          <p:cNvPr id="10" name="Shape 8"/>
          <p:cNvSpPr/>
          <p:nvPr/>
        </p:nvSpPr>
        <p:spPr>
          <a:xfrm>
            <a:off x="4453128" y="1920240"/>
            <a:ext cx="3291840" cy="2103120"/>
          </a:xfrm>
          <a:prstGeom prst="roundRect">
            <a:avLst>
              <a:gd name="adj" fmla="val 2609"/>
            </a:avLst>
          </a:prstGeom>
          <a:solidFill>
            <a:srgbClr val="FFFFFF"/>
          </a:solidFill>
          <a:ln w="12700">
            <a:solidFill>
              <a:srgbClr val="DDE3EA"/>
            </a:solidFill>
            <a:prstDash val="solid"/>
          </a:ln>
        </p:spPr>
      </p:sp>
      <p:sp>
        <p:nvSpPr>
          <p:cNvPr id="11" name="Shape 9"/>
          <p:cNvSpPr/>
          <p:nvPr/>
        </p:nvSpPr>
        <p:spPr>
          <a:xfrm>
            <a:off x="4453128" y="1920240"/>
            <a:ext cx="50292" cy="2103120"/>
          </a:xfrm>
          <a:prstGeom prst="rect">
            <a:avLst/>
          </a:prstGeom>
          <a:solidFill>
            <a:srgbClr val="00B140"/>
          </a:solidFill>
          <a:ln/>
        </p:spPr>
      </p:sp>
      <p:sp>
        <p:nvSpPr>
          <p:cNvPr id="12" name="Text 10"/>
          <p:cNvSpPr/>
          <p:nvPr/>
        </p:nvSpPr>
        <p:spPr>
          <a:xfrm>
            <a:off x="4727448" y="2194560"/>
            <a:ext cx="2743200" cy="365760"/>
          </a:xfrm>
          <a:prstGeom prst="rect">
            <a:avLst/>
          </a:prstGeom>
          <a:noFill/>
          <a:ln/>
        </p:spPr>
        <p:txBody>
          <a:bodyPr wrap="square" rtlCol="0" anchor="ctr"/>
          <a:lstStyle/>
          <a:p>
            <a:pPr indent="0" marL="0">
              <a:buNone/>
            </a:pPr>
            <a:r>
              <a:rPr lang="en-US" sz="1600" b="1" dirty="0">
                <a:solidFill>
                  <a:srgbClr val="0F1724"/>
                </a:solidFill>
                <a:latin typeface="Arial" pitchFamily="34" charset="0"/>
                <a:ea typeface="Arial" pitchFamily="34" charset="-122"/>
                <a:cs typeface="Arial" pitchFamily="34" charset="-120"/>
              </a:rPr>
              <a:t>Two people, two answers</a:t>
            </a:r>
            <a:endParaRPr lang="en-US" sz="1600" dirty="0"/>
          </a:p>
        </p:txBody>
      </p:sp>
      <p:sp>
        <p:nvSpPr>
          <p:cNvPr id="13" name="Text 11"/>
          <p:cNvSpPr/>
          <p:nvPr/>
        </p:nvSpPr>
        <p:spPr>
          <a:xfrm>
            <a:off x="4727448" y="2651760"/>
            <a:ext cx="2743200" cy="1188720"/>
          </a:xfrm>
          <a:prstGeom prst="rect">
            <a:avLst/>
          </a:prstGeom>
          <a:noFill/>
          <a:ln/>
        </p:spPr>
        <p:txBody>
          <a:bodyPr wrap="square" rtlCol="0" anchor="ctr"/>
          <a:lstStyle/>
          <a:p>
            <a:pPr indent="0" marL="0">
              <a:lnSpc>
                <a:spcPct val="125000"/>
              </a:lnSpc>
              <a:buNone/>
            </a:pPr>
            <a:r>
              <a:rPr lang="en-US" sz="1200" dirty="0">
                <a:solidFill>
                  <a:srgbClr val="5B6478"/>
                </a:solidFill>
                <a:latin typeface="Arial" pitchFamily="34" charset="0"/>
                <a:ea typeface="Arial" pitchFamily="34" charset="-122"/>
                <a:cs typeface="Arial" pitchFamily="34" charset="-120"/>
              </a:rPr>
              <a:t>The same export could be summarised differently depending on who prepared it and what they chose to highlight.</a:t>
            </a:r>
            <a:endParaRPr lang="en-US" sz="1200" dirty="0"/>
          </a:p>
        </p:txBody>
      </p:sp>
      <p:sp>
        <p:nvSpPr>
          <p:cNvPr id="14" name="Shape 12"/>
          <p:cNvSpPr/>
          <p:nvPr/>
        </p:nvSpPr>
        <p:spPr>
          <a:xfrm>
            <a:off x="8129016" y="1920240"/>
            <a:ext cx="3291840" cy="2103120"/>
          </a:xfrm>
          <a:prstGeom prst="roundRect">
            <a:avLst>
              <a:gd name="adj" fmla="val 2609"/>
            </a:avLst>
          </a:prstGeom>
          <a:solidFill>
            <a:srgbClr val="FFFFFF"/>
          </a:solidFill>
          <a:ln w="12700">
            <a:solidFill>
              <a:srgbClr val="DDE3EA"/>
            </a:solidFill>
            <a:prstDash val="solid"/>
          </a:ln>
        </p:spPr>
      </p:sp>
      <p:sp>
        <p:nvSpPr>
          <p:cNvPr id="15" name="Shape 13"/>
          <p:cNvSpPr/>
          <p:nvPr/>
        </p:nvSpPr>
        <p:spPr>
          <a:xfrm>
            <a:off x="8129016" y="1920240"/>
            <a:ext cx="50292" cy="2103120"/>
          </a:xfrm>
          <a:prstGeom prst="rect">
            <a:avLst/>
          </a:prstGeom>
          <a:solidFill>
            <a:srgbClr val="00B140"/>
          </a:solidFill>
          <a:ln/>
        </p:spPr>
      </p:sp>
      <p:sp>
        <p:nvSpPr>
          <p:cNvPr id="16" name="Text 14"/>
          <p:cNvSpPr/>
          <p:nvPr/>
        </p:nvSpPr>
        <p:spPr>
          <a:xfrm>
            <a:off x="8403336" y="2194560"/>
            <a:ext cx="2743200" cy="365760"/>
          </a:xfrm>
          <a:prstGeom prst="rect">
            <a:avLst/>
          </a:prstGeom>
          <a:noFill/>
          <a:ln/>
        </p:spPr>
        <p:txBody>
          <a:bodyPr wrap="square" rtlCol="0" anchor="ctr"/>
          <a:lstStyle/>
          <a:p>
            <a:pPr indent="0" marL="0">
              <a:buNone/>
            </a:pPr>
            <a:r>
              <a:rPr lang="en-US" sz="1600" b="1" dirty="0">
                <a:solidFill>
                  <a:srgbClr val="0F1724"/>
                </a:solidFill>
                <a:latin typeface="Arial" pitchFamily="34" charset="0"/>
                <a:ea typeface="Arial" pitchFamily="34" charset="-122"/>
                <a:cs typeface="Arial" pitchFamily="34" charset="-120"/>
              </a:rPr>
              <a:t>Problems found late</a:t>
            </a:r>
            <a:endParaRPr lang="en-US" sz="1600" dirty="0"/>
          </a:p>
        </p:txBody>
      </p:sp>
      <p:sp>
        <p:nvSpPr>
          <p:cNvPr id="17" name="Text 15"/>
          <p:cNvSpPr/>
          <p:nvPr/>
        </p:nvSpPr>
        <p:spPr>
          <a:xfrm>
            <a:off x="8403336" y="2651760"/>
            <a:ext cx="2743200" cy="1188720"/>
          </a:xfrm>
          <a:prstGeom prst="rect">
            <a:avLst/>
          </a:prstGeom>
          <a:noFill/>
          <a:ln/>
        </p:spPr>
        <p:txBody>
          <a:bodyPr wrap="square" rtlCol="0" anchor="ctr"/>
          <a:lstStyle/>
          <a:p>
            <a:pPr indent="0" marL="0">
              <a:lnSpc>
                <a:spcPct val="125000"/>
              </a:lnSpc>
              <a:buNone/>
            </a:pPr>
            <a:r>
              <a:rPr lang="en-US" sz="1200" dirty="0">
                <a:solidFill>
                  <a:srgbClr val="5B6478"/>
                </a:solidFill>
                <a:latin typeface="Arial" pitchFamily="34" charset="0"/>
                <a:ea typeface="Arial" pitchFamily="34" charset="-122"/>
                <a:cs typeface="Arial" pitchFamily="34" charset="-120"/>
              </a:rPr>
              <a:t>A dip at 03:00 or a slow upward creep is easy to miss by eye, so issues surfaced after they had already cost something.</a:t>
            </a:r>
            <a:endParaRPr lang="en-US" sz="1200" dirty="0"/>
          </a:p>
        </p:txBody>
      </p:sp>
      <p:sp>
        <p:nvSpPr>
          <p:cNvPr id="18" name="Text 16"/>
          <p:cNvSpPr/>
          <p:nvPr/>
        </p:nvSpPr>
        <p:spPr>
          <a:xfrm>
            <a:off x="777240" y="4434840"/>
            <a:ext cx="10637215" cy="365760"/>
          </a:xfrm>
          <a:prstGeom prst="rect">
            <a:avLst/>
          </a:prstGeom>
          <a:noFill/>
          <a:ln/>
        </p:spPr>
        <p:txBody>
          <a:bodyPr wrap="square" rtlCol="0" anchor="ctr"/>
          <a:lstStyle/>
          <a:p>
            <a:pPr indent="0" marL="0">
              <a:buNone/>
            </a:pPr>
            <a:r>
              <a:rPr lang="en-US" sz="1500" i="1" dirty="0">
                <a:solidFill>
                  <a:srgbClr val="0F1724"/>
                </a:solidFill>
                <a:latin typeface="Arial" pitchFamily="34" charset="0"/>
                <a:ea typeface="Arial" pitchFamily="34" charset="-122"/>
                <a:cs typeface="Arial" pitchFamily="34" charset="-120"/>
              </a:rPr>
              <a:t>The data was never the problem. Getting a consistent answer out of it was.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WHAT IT IS</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One place where an export becomes a reviewed report</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2</a:t>
            </a:r>
            <a:endParaRPr lang="en-US" sz="900" dirty="0"/>
          </a:p>
        </p:txBody>
      </p:sp>
      <p:sp>
        <p:nvSpPr>
          <p:cNvPr id="6" name="Text 4"/>
          <p:cNvSpPr/>
          <p:nvPr/>
        </p:nvSpPr>
        <p:spPr>
          <a:xfrm>
            <a:off x="777240" y="1783080"/>
            <a:ext cx="10637215" cy="822960"/>
          </a:xfrm>
          <a:prstGeom prst="rect">
            <a:avLst/>
          </a:prstGeom>
          <a:noFill/>
          <a:ln/>
        </p:spPr>
        <p:txBody>
          <a:bodyPr wrap="square" rtlCol="0" anchor="ctr"/>
          <a:lstStyle/>
          <a:p>
            <a:pPr indent="0" marL="0">
              <a:lnSpc>
                <a:spcPct val="130000"/>
              </a:lnSpc>
              <a:buNone/>
            </a:pPr>
            <a:r>
              <a:rPr lang="en-US" sz="1500" dirty="0">
                <a:solidFill>
                  <a:srgbClr val="5B6478"/>
                </a:solidFill>
                <a:latin typeface="Arial" pitchFamily="34" charset="0"/>
                <a:ea typeface="Arial" pitchFamily="34" charset="-122"/>
                <a:cs typeface="Arial" pitchFamily="34" charset="-120"/>
              </a:rPr>
              <a:t>You upload the Excel file exactly as NetAct produces it. Core Insight checks the file is what it claims to be, computes the KPI, analyses the result statistically, and writes the summary — with charts and exports ready to share.</a:t>
            </a:r>
            <a:endParaRPr lang="en-US" sz="1500" dirty="0"/>
          </a:p>
        </p:txBody>
      </p:sp>
      <p:sp>
        <p:nvSpPr>
          <p:cNvPr id="7" name="Shape 5"/>
          <p:cNvSpPr/>
          <p:nvPr/>
        </p:nvSpPr>
        <p:spPr>
          <a:xfrm>
            <a:off x="777240" y="2880360"/>
            <a:ext cx="2048256" cy="1371600"/>
          </a:xfrm>
          <a:prstGeom prst="roundRect">
            <a:avLst>
              <a:gd name="adj" fmla="val 4000"/>
            </a:avLst>
          </a:prstGeom>
          <a:solidFill>
            <a:srgbClr val="F4FAF6"/>
          </a:solidFill>
          <a:ln w="12700">
            <a:solidFill>
              <a:srgbClr val="DDE3EA"/>
            </a:solidFill>
            <a:prstDash val="solid"/>
          </a:ln>
        </p:spPr>
      </p:sp>
      <p:sp>
        <p:nvSpPr>
          <p:cNvPr id="8" name="Text 6"/>
          <p:cNvSpPr/>
          <p:nvPr/>
        </p:nvSpPr>
        <p:spPr>
          <a:xfrm>
            <a:off x="777240" y="3099816"/>
            <a:ext cx="2048256" cy="329184"/>
          </a:xfrm>
          <a:prstGeom prst="rect">
            <a:avLst/>
          </a:prstGeom>
          <a:noFill/>
          <a:ln/>
        </p:spPr>
        <p:txBody>
          <a:bodyPr wrap="square" rtlCol="0" anchor="ctr"/>
          <a:lstStyle/>
          <a:p>
            <a:pPr algn="ctr" indent="0" marL="0">
              <a:buNone/>
            </a:pPr>
            <a:r>
              <a:rPr lang="en-US" sz="1500" b="1" dirty="0">
                <a:solidFill>
                  <a:srgbClr val="0F1724"/>
                </a:solidFill>
                <a:latin typeface="Arial" pitchFamily="34" charset="0"/>
                <a:ea typeface="Arial" pitchFamily="34" charset="-122"/>
                <a:cs typeface="Arial" pitchFamily="34" charset="-120"/>
              </a:rPr>
              <a:t>Upload</a:t>
            </a:r>
            <a:endParaRPr lang="en-US" sz="1500" dirty="0"/>
          </a:p>
        </p:txBody>
      </p:sp>
      <p:sp>
        <p:nvSpPr>
          <p:cNvPr id="9" name="Text 7"/>
          <p:cNvSpPr/>
          <p:nvPr/>
        </p:nvSpPr>
        <p:spPr>
          <a:xfrm>
            <a:off x="886968" y="3483864"/>
            <a:ext cx="1828800" cy="640080"/>
          </a:xfrm>
          <a:prstGeom prst="rect">
            <a:avLst/>
          </a:prstGeom>
          <a:noFill/>
          <a:ln/>
        </p:spPr>
        <p:txBody>
          <a:bodyPr wrap="square" rtlCol="0" anchor="ctr"/>
          <a:lstStyle/>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NetAct file,</a:t>
            </a:r>
            <a:endParaRPr lang="en-US" sz="1050" dirty="0"/>
          </a:p>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unchanged</a:t>
            </a:r>
            <a:endParaRPr lang="en-US" sz="1050" dirty="0"/>
          </a:p>
        </p:txBody>
      </p:sp>
      <p:sp>
        <p:nvSpPr>
          <p:cNvPr id="10" name="Text 8"/>
          <p:cNvSpPr/>
          <p:nvPr/>
        </p:nvSpPr>
        <p:spPr>
          <a:xfrm>
            <a:off x="2825496" y="3337560"/>
            <a:ext cx="256032" cy="365760"/>
          </a:xfrm>
          <a:prstGeom prst="rect">
            <a:avLst/>
          </a:prstGeom>
          <a:noFill/>
          <a:ln/>
        </p:spPr>
        <p:txBody>
          <a:bodyPr wrap="square" rtlCol="0" anchor="ctr"/>
          <a:lstStyle/>
          <a:p>
            <a:pPr algn="ctr" indent="0" marL="0">
              <a:buNone/>
            </a:pPr>
            <a:r>
              <a:rPr lang="en-US" sz="2000" b="1" dirty="0">
                <a:solidFill>
                  <a:srgbClr val="DDE3EA"/>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3081528" y="2880360"/>
            <a:ext cx="2048256" cy="1371600"/>
          </a:xfrm>
          <a:prstGeom prst="roundRect">
            <a:avLst>
              <a:gd name="adj" fmla="val 4000"/>
            </a:avLst>
          </a:prstGeom>
          <a:solidFill>
            <a:srgbClr val="F4FAF6"/>
          </a:solidFill>
          <a:ln w="12700">
            <a:solidFill>
              <a:srgbClr val="DDE3EA"/>
            </a:solidFill>
            <a:prstDash val="solid"/>
          </a:ln>
        </p:spPr>
      </p:sp>
      <p:sp>
        <p:nvSpPr>
          <p:cNvPr id="12" name="Text 10"/>
          <p:cNvSpPr/>
          <p:nvPr/>
        </p:nvSpPr>
        <p:spPr>
          <a:xfrm>
            <a:off x="3081528" y="3099816"/>
            <a:ext cx="2048256" cy="329184"/>
          </a:xfrm>
          <a:prstGeom prst="rect">
            <a:avLst/>
          </a:prstGeom>
          <a:noFill/>
          <a:ln/>
        </p:spPr>
        <p:txBody>
          <a:bodyPr wrap="square" rtlCol="0" anchor="ctr"/>
          <a:lstStyle/>
          <a:p>
            <a:pPr algn="ctr" indent="0" marL="0">
              <a:buNone/>
            </a:pPr>
            <a:r>
              <a:rPr lang="en-US" sz="1500" b="1" dirty="0">
                <a:solidFill>
                  <a:srgbClr val="0F1724"/>
                </a:solidFill>
                <a:latin typeface="Arial" pitchFamily="34" charset="0"/>
                <a:ea typeface="Arial" pitchFamily="34" charset="-122"/>
                <a:cs typeface="Arial" pitchFamily="34" charset="-120"/>
              </a:rPr>
              <a:t>Validate</a:t>
            </a:r>
            <a:endParaRPr lang="en-US" sz="1500" dirty="0"/>
          </a:p>
        </p:txBody>
      </p:sp>
      <p:sp>
        <p:nvSpPr>
          <p:cNvPr id="13" name="Text 11"/>
          <p:cNvSpPr/>
          <p:nvPr/>
        </p:nvSpPr>
        <p:spPr>
          <a:xfrm>
            <a:off x="3191256" y="3483864"/>
            <a:ext cx="1828800" cy="640080"/>
          </a:xfrm>
          <a:prstGeom prst="rect">
            <a:avLst/>
          </a:prstGeom>
          <a:noFill/>
          <a:ln/>
        </p:spPr>
        <p:txBody>
          <a:bodyPr wrap="square" rtlCol="0" anchor="ctr"/>
          <a:lstStyle/>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Structure and</a:t>
            </a:r>
            <a:endParaRPr lang="en-US" sz="1050" dirty="0"/>
          </a:p>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columns checked</a:t>
            </a:r>
            <a:endParaRPr lang="en-US" sz="1050" dirty="0"/>
          </a:p>
        </p:txBody>
      </p:sp>
      <p:sp>
        <p:nvSpPr>
          <p:cNvPr id="14" name="Text 12"/>
          <p:cNvSpPr/>
          <p:nvPr/>
        </p:nvSpPr>
        <p:spPr>
          <a:xfrm>
            <a:off x="5129784" y="3337560"/>
            <a:ext cx="256032" cy="365760"/>
          </a:xfrm>
          <a:prstGeom prst="rect">
            <a:avLst/>
          </a:prstGeom>
          <a:noFill/>
          <a:ln/>
        </p:spPr>
        <p:txBody>
          <a:bodyPr wrap="square" rtlCol="0" anchor="ctr"/>
          <a:lstStyle/>
          <a:p>
            <a:pPr algn="ctr" indent="0" marL="0">
              <a:buNone/>
            </a:pPr>
            <a:r>
              <a:rPr lang="en-US" sz="2000" b="1" dirty="0">
                <a:solidFill>
                  <a:srgbClr val="DDE3EA"/>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5385816" y="2880360"/>
            <a:ext cx="2048256" cy="1371600"/>
          </a:xfrm>
          <a:prstGeom prst="roundRect">
            <a:avLst>
              <a:gd name="adj" fmla="val 4000"/>
            </a:avLst>
          </a:prstGeom>
          <a:solidFill>
            <a:srgbClr val="F4FAF6"/>
          </a:solidFill>
          <a:ln w="12700">
            <a:solidFill>
              <a:srgbClr val="DDE3EA"/>
            </a:solidFill>
            <a:prstDash val="solid"/>
          </a:ln>
        </p:spPr>
      </p:sp>
      <p:sp>
        <p:nvSpPr>
          <p:cNvPr id="16" name="Text 14"/>
          <p:cNvSpPr/>
          <p:nvPr/>
        </p:nvSpPr>
        <p:spPr>
          <a:xfrm>
            <a:off x="5385816" y="3099816"/>
            <a:ext cx="2048256" cy="329184"/>
          </a:xfrm>
          <a:prstGeom prst="rect">
            <a:avLst/>
          </a:prstGeom>
          <a:noFill/>
          <a:ln/>
        </p:spPr>
        <p:txBody>
          <a:bodyPr wrap="square" rtlCol="0" anchor="ctr"/>
          <a:lstStyle/>
          <a:p>
            <a:pPr algn="ctr" indent="0" marL="0">
              <a:buNone/>
            </a:pPr>
            <a:r>
              <a:rPr lang="en-US" sz="1500" b="1" dirty="0">
                <a:solidFill>
                  <a:srgbClr val="0F1724"/>
                </a:solidFill>
                <a:latin typeface="Arial" pitchFamily="34" charset="0"/>
                <a:ea typeface="Arial" pitchFamily="34" charset="-122"/>
                <a:cs typeface="Arial" pitchFamily="34" charset="-120"/>
              </a:rPr>
              <a:t>Analyse</a:t>
            </a:r>
            <a:endParaRPr lang="en-US" sz="1500" dirty="0"/>
          </a:p>
        </p:txBody>
      </p:sp>
      <p:sp>
        <p:nvSpPr>
          <p:cNvPr id="17" name="Text 15"/>
          <p:cNvSpPr/>
          <p:nvPr/>
        </p:nvSpPr>
        <p:spPr>
          <a:xfrm>
            <a:off x="5495544" y="3483864"/>
            <a:ext cx="1828800" cy="640080"/>
          </a:xfrm>
          <a:prstGeom prst="rect">
            <a:avLst/>
          </a:prstGeom>
          <a:noFill/>
          <a:ln/>
        </p:spPr>
        <p:txBody>
          <a:bodyPr wrap="square" rtlCol="0" anchor="ctr"/>
          <a:lstStyle/>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Baselines, trends,</a:t>
            </a:r>
            <a:endParaRPr lang="en-US" sz="1050" dirty="0"/>
          </a:p>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quality</a:t>
            </a:r>
            <a:endParaRPr lang="en-US" sz="1050" dirty="0"/>
          </a:p>
        </p:txBody>
      </p:sp>
      <p:sp>
        <p:nvSpPr>
          <p:cNvPr id="18" name="Text 16"/>
          <p:cNvSpPr/>
          <p:nvPr/>
        </p:nvSpPr>
        <p:spPr>
          <a:xfrm>
            <a:off x="7434072" y="3337560"/>
            <a:ext cx="256032" cy="365760"/>
          </a:xfrm>
          <a:prstGeom prst="rect">
            <a:avLst/>
          </a:prstGeom>
          <a:noFill/>
          <a:ln/>
        </p:spPr>
        <p:txBody>
          <a:bodyPr wrap="square" rtlCol="0" anchor="ctr"/>
          <a:lstStyle/>
          <a:p>
            <a:pPr algn="ctr" indent="0" marL="0">
              <a:buNone/>
            </a:pPr>
            <a:r>
              <a:rPr lang="en-US" sz="2000" b="1" dirty="0">
                <a:solidFill>
                  <a:srgbClr val="DDE3EA"/>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7690104" y="2880360"/>
            <a:ext cx="2048256" cy="1371600"/>
          </a:xfrm>
          <a:prstGeom prst="roundRect">
            <a:avLst>
              <a:gd name="adj" fmla="val 4000"/>
            </a:avLst>
          </a:prstGeom>
          <a:solidFill>
            <a:srgbClr val="F4FAF6"/>
          </a:solidFill>
          <a:ln w="12700">
            <a:solidFill>
              <a:srgbClr val="DDE3EA"/>
            </a:solidFill>
            <a:prstDash val="solid"/>
          </a:ln>
        </p:spPr>
      </p:sp>
      <p:sp>
        <p:nvSpPr>
          <p:cNvPr id="20" name="Text 18"/>
          <p:cNvSpPr/>
          <p:nvPr/>
        </p:nvSpPr>
        <p:spPr>
          <a:xfrm>
            <a:off x="7690104" y="3099816"/>
            <a:ext cx="2048256" cy="329184"/>
          </a:xfrm>
          <a:prstGeom prst="rect">
            <a:avLst/>
          </a:prstGeom>
          <a:noFill/>
          <a:ln/>
        </p:spPr>
        <p:txBody>
          <a:bodyPr wrap="square" rtlCol="0" anchor="ctr"/>
          <a:lstStyle/>
          <a:p>
            <a:pPr algn="ctr" indent="0" marL="0">
              <a:buNone/>
            </a:pPr>
            <a:r>
              <a:rPr lang="en-US" sz="1500" b="1" dirty="0">
                <a:solidFill>
                  <a:srgbClr val="0F1724"/>
                </a:solidFill>
                <a:latin typeface="Arial" pitchFamily="34" charset="0"/>
                <a:ea typeface="Arial" pitchFamily="34" charset="-122"/>
                <a:cs typeface="Arial" pitchFamily="34" charset="-120"/>
              </a:rPr>
              <a:t>Report</a:t>
            </a:r>
            <a:endParaRPr lang="en-US" sz="1500" dirty="0"/>
          </a:p>
        </p:txBody>
      </p:sp>
      <p:sp>
        <p:nvSpPr>
          <p:cNvPr id="21" name="Text 19"/>
          <p:cNvSpPr/>
          <p:nvPr/>
        </p:nvSpPr>
        <p:spPr>
          <a:xfrm>
            <a:off x="7799832" y="3483864"/>
            <a:ext cx="1828800" cy="640080"/>
          </a:xfrm>
          <a:prstGeom prst="rect">
            <a:avLst/>
          </a:prstGeom>
          <a:noFill/>
          <a:ln/>
        </p:spPr>
        <p:txBody>
          <a:bodyPr wrap="square" rtlCol="0" anchor="ctr"/>
          <a:lstStyle/>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Charts and a</a:t>
            </a:r>
            <a:endParaRPr lang="en-US" sz="1050" dirty="0"/>
          </a:p>
          <a:p>
            <a:pPr algn="ctr" indent="0" marL="0">
              <a:lnSpc>
                <a:spcPct val="115000"/>
              </a:lnSpc>
              <a:buNone/>
            </a:pPr>
            <a:r>
              <a:rPr lang="en-US" sz="1050" dirty="0">
                <a:solidFill>
                  <a:srgbClr val="5B6478"/>
                </a:solidFill>
                <a:latin typeface="Arial" pitchFamily="34" charset="0"/>
                <a:ea typeface="Arial" pitchFamily="34" charset="-122"/>
                <a:cs typeface="Arial" pitchFamily="34" charset="-120"/>
              </a:rPr>
              <a:t>written summary</a:t>
            </a:r>
            <a:endParaRPr lang="en-US" sz="1050" dirty="0"/>
          </a:p>
        </p:txBody>
      </p:sp>
      <p:sp>
        <p:nvSpPr>
          <p:cNvPr id="22" name="Text 20"/>
          <p:cNvSpPr/>
          <p:nvPr/>
        </p:nvSpPr>
        <p:spPr>
          <a:xfrm>
            <a:off x="9738360" y="3337560"/>
            <a:ext cx="256032" cy="365760"/>
          </a:xfrm>
          <a:prstGeom prst="rect">
            <a:avLst/>
          </a:prstGeom>
          <a:noFill/>
          <a:ln/>
        </p:spPr>
        <p:txBody>
          <a:bodyPr wrap="square" rtlCol="0" anchor="ctr"/>
          <a:lstStyle/>
          <a:p>
            <a:pPr algn="ctr" indent="0" marL="0">
              <a:buNone/>
            </a:pPr>
            <a:r>
              <a:rPr lang="en-US" sz="2000" b="1" dirty="0">
                <a:solidFill>
                  <a:srgbClr val="DDE3EA"/>
                </a:solidFill>
                <a:latin typeface="Arial" pitchFamily="34" charset="0"/>
                <a:ea typeface="Arial" pitchFamily="34" charset="-122"/>
                <a:cs typeface="Arial" pitchFamily="34" charset="-120"/>
              </a:rPr>
              <a:t>›</a:t>
            </a:r>
            <a:endParaRPr lang="en-US" sz="2000" dirty="0"/>
          </a:p>
        </p:txBody>
      </p:sp>
      <p:sp>
        <p:nvSpPr>
          <p:cNvPr id="23" name="Shape 21"/>
          <p:cNvSpPr/>
          <p:nvPr/>
        </p:nvSpPr>
        <p:spPr>
          <a:xfrm>
            <a:off x="9994392" y="2880360"/>
            <a:ext cx="2048256" cy="1371600"/>
          </a:xfrm>
          <a:prstGeom prst="roundRect">
            <a:avLst>
              <a:gd name="adj" fmla="val 4000"/>
            </a:avLst>
          </a:prstGeom>
          <a:solidFill>
            <a:srgbClr val="00B140"/>
          </a:solidFill>
          <a:ln w="12700">
            <a:solidFill>
              <a:srgbClr val="00B140"/>
            </a:solidFill>
            <a:prstDash val="solid"/>
          </a:ln>
        </p:spPr>
      </p:sp>
      <p:sp>
        <p:nvSpPr>
          <p:cNvPr id="24" name="Text 22"/>
          <p:cNvSpPr/>
          <p:nvPr/>
        </p:nvSpPr>
        <p:spPr>
          <a:xfrm>
            <a:off x="9994392" y="3099816"/>
            <a:ext cx="2048256" cy="329184"/>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Share</a:t>
            </a:r>
            <a:endParaRPr lang="en-US" sz="1500" dirty="0"/>
          </a:p>
        </p:txBody>
      </p:sp>
      <p:sp>
        <p:nvSpPr>
          <p:cNvPr id="25" name="Text 23"/>
          <p:cNvSpPr/>
          <p:nvPr/>
        </p:nvSpPr>
        <p:spPr>
          <a:xfrm>
            <a:off x="10104120" y="3483864"/>
            <a:ext cx="1828800" cy="640080"/>
          </a:xfrm>
          <a:prstGeom prst="rect">
            <a:avLst/>
          </a:prstGeom>
          <a:noFill/>
          <a:ln/>
        </p:spPr>
        <p:txBody>
          <a:bodyPr wrap="square" rtlCol="0" anchor="ctr"/>
          <a:lstStyle/>
          <a:p>
            <a:pPr algn="ctr" indent="0" marL="0">
              <a:lnSpc>
                <a:spcPct val="115000"/>
              </a:lnSpc>
              <a:buNone/>
            </a:pPr>
            <a:r>
              <a:rPr lang="en-US" sz="1050" dirty="0">
                <a:solidFill>
                  <a:srgbClr val="E6F6EC"/>
                </a:solidFill>
                <a:latin typeface="Arial" pitchFamily="34" charset="0"/>
                <a:ea typeface="Arial" pitchFamily="34" charset="-122"/>
                <a:cs typeface="Arial" pitchFamily="34" charset="-120"/>
              </a:rPr>
              <a:t>PowerPoint,</a:t>
            </a:r>
            <a:endParaRPr lang="en-US" sz="1050" dirty="0"/>
          </a:p>
          <a:p>
            <a:pPr algn="ctr" indent="0" marL="0">
              <a:lnSpc>
                <a:spcPct val="115000"/>
              </a:lnSpc>
              <a:buNone/>
            </a:pPr>
            <a:r>
              <a:rPr lang="en-US" sz="1050" dirty="0">
                <a:solidFill>
                  <a:srgbClr val="E6F6EC"/>
                </a:solidFill>
                <a:latin typeface="Arial" pitchFamily="34" charset="0"/>
                <a:ea typeface="Arial" pitchFamily="34" charset="-122"/>
                <a:cs typeface="Arial" pitchFamily="34" charset="-120"/>
              </a:rPr>
              <a:t>Teams, download</a:t>
            </a:r>
            <a:endParaRPr lang="en-US" sz="1050" dirty="0"/>
          </a:p>
        </p:txBody>
      </p:sp>
      <p:sp>
        <p:nvSpPr>
          <p:cNvPr id="26" name="Text 24"/>
          <p:cNvSpPr/>
          <p:nvPr/>
        </p:nvSpPr>
        <p:spPr>
          <a:xfrm>
            <a:off x="777240" y="4572000"/>
            <a:ext cx="10637215" cy="365760"/>
          </a:xfrm>
          <a:prstGeom prst="rect">
            <a:avLst/>
          </a:prstGeom>
          <a:noFill/>
          <a:ln/>
        </p:spPr>
        <p:txBody>
          <a:bodyPr wrap="square" rtlCol="0" anchor="ctr"/>
          <a:lstStyle/>
          <a:p>
            <a:pPr indent="0" marL="0">
              <a:buNone/>
            </a:pPr>
            <a:r>
              <a:rPr lang="en-US" sz="1250" dirty="0">
                <a:solidFill>
                  <a:srgbClr val="5B6478"/>
                </a:solidFill>
                <a:latin typeface="Arial" pitchFamily="34" charset="0"/>
                <a:ea typeface="Arial" pitchFamily="34" charset="-122"/>
                <a:cs typeface="Arial" pitchFamily="34" charset="-120"/>
              </a:rPr>
              <a:t>No new tool for the engineers to learn, and no reformatting of the export beforehand.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MEASURED, NOT ESTIMATED</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A three-day export, end to end</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3</a:t>
            </a:r>
            <a:endParaRPr lang="en-US" sz="900" dirty="0"/>
          </a:p>
        </p:txBody>
      </p:sp>
      <p:sp>
        <p:nvSpPr>
          <p:cNvPr id="6" name="Text 4"/>
          <p:cNvSpPr/>
          <p:nvPr/>
        </p:nvSpPr>
        <p:spPr>
          <a:xfrm>
            <a:off x="777240" y="1783080"/>
            <a:ext cx="10637215" cy="320040"/>
          </a:xfrm>
          <a:prstGeom prst="rect">
            <a:avLst/>
          </a:prstGeom>
          <a:noFill/>
          <a:ln/>
        </p:spPr>
        <p:txBody>
          <a:bodyPr wrap="square" rtlCol="0" anchor="ctr"/>
          <a:lstStyle/>
          <a:p>
            <a:pPr indent="0" marL="0">
              <a:buNone/>
            </a:pPr>
            <a:r>
              <a:rPr lang="en-US" sz="1300" dirty="0">
                <a:solidFill>
                  <a:srgbClr val="5B6478"/>
                </a:solidFill>
                <a:latin typeface="Arial" pitchFamily="34" charset="0"/>
                <a:ea typeface="Arial" pitchFamily="34" charset="-122"/>
                <a:cs typeface="Arial" pitchFamily="34" charset="-120"/>
              </a:rPr>
              <a:t>Figures below are from an actual run on a real NetAct CMG export, on the live deployment.</a:t>
            </a:r>
            <a:endParaRPr lang="en-US" sz="1300" dirty="0"/>
          </a:p>
        </p:txBody>
      </p:sp>
      <p:sp>
        <p:nvSpPr>
          <p:cNvPr id="7" name="Shape 5"/>
          <p:cNvSpPr/>
          <p:nvPr/>
        </p:nvSpPr>
        <p:spPr>
          <a:xfrm>
            <a:off x="777240" y="2377440"/>
            <a:ext cx="2487168" cy="1600200"/>
          </a:xfrm>
          <a:prstGeom prst="roundRect">
            <a:avLst>
              <a:gd name="adj" fmla="val 3429"/>
            </a:avLst>
          </a:prstGeom>
          <a:solidFill>
            <a:srgbClr val="F4FAF6"/>
          </a:solidFill>
          <a:ln w="12700">
            <a:solidFill>
              <a:srgbClr val="DDE3EA"/>
            </a:solidFill>
            <a:prstDash val="solid"/>
          </a:ln>
        </p:spPr>
      </p:sp>
      <p:sp>
        <p:nvSpPr>
          <p:cNvPr id="8" name="Text 6"/>
          <p:cNvSpPr/>
          <p:nvPr/>
        </p:nvSpPr>
        <p:spPr>
          <a:xfrm>
            <a:off x="978408" y="2560320"/>
            <a:ext cx="2084832" cy="566928"/>
          </a:xfrm>
          <a:prstGeom prst="rect">
            <a:avLst/>
          </a:prstGeom>
          <a:noFill/>
          <a:ln/>
        </p:spPr>
        <p:txBody>
          <a:bodyPr wrap="square" rtlCol="0" anchor="ctr"/>
          <a:lstStyle/>
          <a:p>
            <a:pPr indent="0" marL="0">
              <a:buNone/>
            </a:pPr>
            <a:r>
              <a:rPr lang="en-US" sz="3000" b="1" dirty="0">
                <a:solidFill>
                  <a:srgbClr val="00B140"/>
                </a:solidFill>
                <a:latin typeface="Arial" pitchFamily="34" charset="0"/>
                <a:ea typeface="Arial" pitchFamily="34" charset="-122"/>
                <a:cs typeface="Arial" pitchFamily="34" charset="-120"/>
              </a:rPr>
              <a:t>3,456</a:t>
            </a:r>
            <a:endParaRPr lang="en-US" sz="3000" dirty="0"/>
          </a:p>
        </p:txBody>
      </p:sp>
      <p:sp>
        <p:nvSpPr>
          <p:cNvPr id="9" name="Text 7"/>
          <p:cNvSpPr/>
          <p:nvPr/>
        </p:nvSpPr>
        <p:spPr>
          <a:xfrm>
            <a:off x="978408" y="3127248"/>
            <a:ext cx="2084832" cy="274320"/>
          </a:xfrm>
          <a:prstGeom prst="rect">
            <a:avLst/>
          </a:prstGeom>
          <a:noFill/>
          <a:ln/>
        </p:spPr>
        <p:txBody>
          <a:bodyPr wrap="square" rtlCol="0" anchor="ctr"/>
          <a:lstStyle/>
          <a:p>
            <a:pPr indent="0" marL="0">
              <a:buNone/>
            </a:pPr>
            <a:r>
              <a:rPr lang="en-US" sz="1250" b="1" dirty="0">
                <a:solidFill>
                  <a:srgbClr val="0F1724"/>
                </a:solidFill>
                <a:latin typeface="Arial" pitchFamily="34" charset="0"/>
                <a:ea typeface="Arial" pitchFamily="34" charset="-122"/>
                <a:cs typeface="Arial" pitchFamily="34" charset="-120"/>
              </a:rPr>
              <a:t>rows ingested</a:t>
            </a:r>
            <a:endParaRPr lang="en-US" sz="1250" dirty="0"/>
          </a:p>
        </p:txBody>
      </p:sp>
      <p:sp>
        <p:nvSpPr>
          <p:cNvPr id="10" name="Text 8"/>
          <p:cNvSpPr/>
          <p:nvPr/>
        </p:nvSpPr>
        <p:spPr>
          <a:xfrm>
            <a:off x="978408" y="3401568"/>
            <a:ext cx="2084832" cy="457200"/>
          </a:xfrm>
          <a:prstGeom prst="rect">
            <a:avLst/>
          </a:prstGeom>
          <a:noFill/>
          <a:ln/>
        </p:spPr>
        <p:txBody>
          <a:bodyPr wrap="square" rtlCol="0" anchor="ctr"/>
          <a:lstStyle/>
          <a:p>
            <a:pPr indent="0" marL="0">
              <a:buNone/>
            </a:pPr>
            <a:r>
              <a:rPr lang="en-US" sz="1050" dirty="0">
                <a:solidFill>
                  <a:srgbClr val="5B6478"/>
                </a:solidFill>
                <a:latin typeface="Arial" pitchFamily="34" charset="0"/>
                <a:ea typeface="Arial" pitchFamily="34" charset="-122"/>
                <a:cs typeface="Arial" pitchFamily="34" charset="-120"/>
              </a:rPr>
              <a:t>raw CMG measurements</a:t>
            </a:r>
            <a:endParaRPr lang="en-US" sz="1050" dirty="0"/>
          </a:p>
        </p:txBody>
      </p:sp>
      <p:sp>
        <p:nvSpPr>
          <p:cNvPr id="11" name="Shape 9"/>
          <p:cNvSpPr/>
          <p:nvPr/>
        </p:nvSpPr>
        <p:spPr>
          <a:xfrm>
            <a:off x="3538728" y="2377440"/>
            <a:ext cx="2487168" cy="1600200"/>
          </a:xfrm>
          <a:prstGeom prst="roundRect">
            <a:avLst>
              <a:gd name="adj" fmla="val 3429"/>
            </a:avLst>
          </a:prstGeom>
          <a:solidFill>
            <a:srgbClr val="F4FAF6"/>
          </a:solidFill>
          <a:ln w="12700">
            <a:solidFill>
              <a:srgbClr val="DDE3EA"/>
            </a:solidFill>
            <a:prstDash val="solid"/>
          </a:ln>
        </p:spPr>
      </p:sp>
      <p:sp>
        <p:nvSpPr>
          <p:cNvPr id="12" name="Text 10"/>
          <p:cNvSpPr/>
          <p:nvPr/>
        </p:nvSpPr>
        <p:spPr>
          <a:xfrm>
            <a:off x="3739896" y="2560320"/>
            <a:ext cx="2084832" cy="566928"/>
          </a:xfrm>
          <a:prstGeom prst="rect">
            <a:avLst/>
          </a:prstGeom>
          <a:noFill/>
          <a:ln/>
        </p:spPr>
        <p:txBody>
          <a:bodyPr wrap="square" rtlCol="0" anchor="ctr"/>
          <a:lstStyle/>
          <a:p>
            <a:pPr indent="0" marL="0">
              <a:buNone/>
            </a:pPr>
            <a:r>
              <a:rPr lang="en-US" sz="3000" b="1" dirty="0">
                <a:solidFill>
                  <a:srgbClr val="00B140"/>
                </a:solidFill>
                <a:latin typeface="Arial" pitchFamily="34" charset="0"/>
                <a:ea typeface="Arial" pitchFamily="34" charset="-122"/>
                <a:cs typeface="Arial" pitchFamily="34" charset="-120"/>
              </a:rPr>
              <a:t>288</a:t>
            </a:r>
            <a:endParaRPr lang="en-US" sz="3000" dirty="0"/>
          </a:p>
        </p:txBody>
      </p:sp>
      <p:sp>
        <p:nvSpPr>
          <p:cNvPr id="13" name="Text 11"/>
          <p:cNvSpPr/>
          <p:nvPr/>
        </p:nvSpPr>
        <p:spPr>
          <a:xfrm>
            <a:off x="3739896" y="3127248"/>
            <a:ext cx="2084832" cy="274320"/>
          </a:xfrm>
          <a:prstGeom prst="rect">
            <a:avLst/>
          </a:prstGeom>
          <a:noFill/>
          <a:ln/>
        </p:spPr>
        <p:txBody>
          <a:bodyPr wrap="square" rtlCol="0" anchor="ctr"/>
          <a:lstStyle/>
          <a:p>
            <a:pPr indent="0" marL="0">
              <a:buNone/>
            </a:pPr>
            <a:r>
              <a:rPr lang="en-US" sz="1250" b="1" dirty="0">
                <a:solidFill>
                  <a:srgbClr val="0F1724"/>
                </a:solidFill>
                <a:latin typeface="Arial" pitchFamily="34" charset="0"/>
                <a:ea typeface="Arial" pitchFamily="34" charset="-122"/>
                <a:cs typeface="Arial" pitchFamily="34" charset="-120"/>
              </a:rPr>
              <a:t>periods analysed</a:t>
            </a:r>
            <a:endParaRPr lang="en-US" sz="1250" dirty="0"/>
          </a:p>
        </p:txBody>
      </p:sp>
      <p:sp>
        <p:nvSpPr>
          <p:cNvPr id="14" name="Text 12"/>
          <p:cNvSpPr/>
          <p:nvPr/>
        </p:nvSpPr>
        <p:spPr>
          <a:xfrm>
            <a:off x="3739896" y="3401568"/>
            <a:ext cx="2084832" cy="457200"/>
          </a:xfrm>
          <a:prstGeom prst="rect">
            <a:avLst/>
          </a:prstGeom>
          <a:noFill/>
          <a:ln/>
        </p:spPr>
        <p:txBody>
          <a:bodyPr wrap="square" rtlCol="0" anchor="ctr"/>
          <a:lstStyle/>
          <a:p>
            <a:pPr indent="0" marL="0">
              <a:buNone/>
            </a:pPr>
            <a:r>
              <a:rPr lang="en-US" sz="1050" dirty="0">
                <a:solidFill>
                  <a:srgbClr val="5B6478"/>
                </a:solidFill>
                <a:latin typeface="Arial" pitchFamily="34" charset="0"/>
                <a:ea typeface="Arial" pitchFamily="34" charset="-122"/>
                <a:cs typeface="Arial" pitchFamily="34" charset="-120"/>
              </a:rPr>
              <a:t>15-minute resolution</a:t>
            </a:r>
            <a:endParaRPr lang="en-US" sz="1050" dirty="0"/>
          </a:p>
        </p:txBody>
      </p:sp>
      <p:sp>
        <p:nvSpPr>
          <p:cNvPr id="15" name="Shape 13"/>
          <p:cNvSpPr/>
          <p:nvPr/>
        </p:nvSpPr>
        <p:spPr>
          <a:xfrm>
            <a:off x="6300216" y="2377440"/>
            <a:ext cx="2487168" cy="1600200"/>
          </a:xfrm>
          <a:prstGeom prst="roundRect">
            <a:avLst>
              <a:gd name="adj" fmla="val 3429"/>
            </a:avLst>
          </a:prstGeom>
          <a:solidFill>
            <a:srgbClr val="F4FAF6"/>
          </a:solidFill>
          <a:ln w="12700">
            <a:solidFill>
              <a:srgbClr val="DDE3EA"/>
            </a:solidFill>
            <a:prstDash val="solid"/>
          </a:ln>
        </p:spPr>
      </p:sp>
      <p:sp>
        <p:nvSpPr>
          <p:cNvPr id="16" name="Text 14"/>
          <p:cNvSpPr/>
          <p:nvPr/>
        </p:nvSpPr>
        <p:spPr>
          <a:xfrm>
            <a:off x="6501384" y="2560320"/>
            <a:ext cx="2084832" cy="566928"/>
          </a:xfrm>
          <a:prstGeom prst="rect">
            <a:avLst/>
          </a:prstGeom>
          <a:noFill/>
          <a:ln/>
        </p:spPr>
        <p:txBody>
          <a:bodyPr wrap="square" rtlCol="0" anchor="ctr"/>
          <a:lstStyle/>
          <a:p>
            <a:pPr indent="0" marL="0">
              <a:buNone/>
            </a:pPr>
            <a:r>
              <a:rPr lang="en-US" sz="3000" b="1" dirty="0">
                <a:solidFill>
                  <a:srgbClr val="00B140"/>
                </a:solidFill>
                <a:latin typeface="Arial" pitchFamily="34" charset="0"/>
                <a:ea typeface="Arial" pitchFamily="34" charset="-122"/>
                <a:cs typeface="Arial" pitchFamily="34" charset="-120"/>
              </a:rPr>
              <a:t>4</a:t>
            </a:r>
            <a:endParaRPr lang="en-US" sz="3000" dirty="0"/>
          </a:p>
        </p:txBody>
      </p:sp>
      <p:sp>
        <p:nvSpPr>
          <p:cNvPr id="17" name="Text 15"/>
          <p:cNvSpPr/>
          <p:nvPr/>
        </p:nvSpPr>
        <p:spPr>
          <a:xfrm>
            <a:off x="6501384" y="3127248"/>
            <a:ext cx="2084832" cy="274320"/>
          </a:xfrm>
          <a:prstGeom prst="rect">
            <a:avLst/>
          </a:prstGeom>
          <a:noFill/>
          <a:ln/>
        </p:spPr>
        <p:txBody>
          <a:bodyPr wrap="square" rtlCol="0" anchor="ctr"/>
          <a:lstStyle/>
          <a:p>
            <a:pPr indent="0" marL="0">
              <a:buNone/>
            </a:pPr>
            <a:r>
              <a:rPr lang="en-US" sz="1250" b="1" dirty="0">
                <a:solidFill>
                  <a:srgbClr val="0F1724"/>
                </a:solidFill>
                <a:latin typeface="Arial" pitchFamily="34" charset="0"/>
                <a:ea typeface="Arial" pitchFamily="34" charset="-122"/>
                <a:cs typeface="Arial" pitchFamily="34" charset="-120"/>
              </a:rPr>
              <a:t>charts generated</a:t>
            </a:r>
            <a:endParaRPr lang="en-US" sz="1250" dirty="0"/>
          </a:p>
        </p:txBody>
      </p:sp>
      <p:sp>
        <p:nvSpPr>
          <p:cNvPr id="18" name="Text 16"/>
          <p:cNvSpPr/>
          <p:nvPr/>
        </p:nvSpPr>
        <p:spPr>
          <a:xfrm>
            <a:off x="6501384" y="3401568"/>
            <a:ext cx="2084832" cy="457200"/>
          </a:xfrm>
          <a:prstGeom prst="rect">
            <a:avLst/>
          </a:prstGeom>
          <a:noFill/>
          <a:ln/>
        </p:spPr>
        <p:txBody>
          <a:bodyPr wrap="square" rtlCol="0" anchor="ctr"/>
          <a:lstStyle/>
          <a:p>
            <a:pPr indent="0" marL="0">
              <a:buNone/>
            </a:pPr>
            <a:r>
              <a:rPr lang="en-US" sz="1050" dirty="0">
                <a:solidFill>
                  <a:srgbClr val="5B6478"/>
                </a:solidFill>
                <a:latin typeface="Arial" pitchFamily="34" charset="0"/>
                <a:ea typeface="Arial" pitchFamily="34" charset="-122"/>
                <a:cs typeface="Arial" pitchFamily="34" charset="-120"/>
              </a:rPr>
              <a:t>rendered server-side</a:t>
            </a:r>
            <a:endParaRPr lang="en-US" sz="1050" dirty="0"/>
          </a:p>
        </p:txBody>
      </p:sp>
      <p:sp>
        <p:nvSpPr>
          <p:cNvPr id="19" name="Shape 17"/>
          <p:cNvSpPr/>
          <p:nvPr/>
        </p:nvSpPr>
        <p:spPr>
          <a:xfrm>
            <a:off x="9061704" y="2377440"/>
            <a:ext cx="2487168" cy="1600200"/>
          </a:xfrm>
          <a:prstGeom prst="roundRect">
            <a:avLst>
              <a:gd name="adj" fmla="val 3429"/>
            </a:avLst>
          </a:prstGeom>
          <a:solidFill>
            <a:srgbClr val="F4FAF6"/>
          </a:solidFill>
          <a:ln w="12700">
            <a:solidFill>
              <a:srgbClr val="DDE3EA"/>
            </a:solidFill>
            <a:prstDash val="solid"/>
          </a:ln>
        </p:spPr>
      </p:sp>
      <p:sp>
        <p:nvSpPr>
          <p:cNvPr id="20" name="Text 18"/>
          <p:cNvSpPr/>
          <p:nvPr/>
        </p:nvSpPr>
        <p:spPr>
          <a:xfrm>
            <a:off x="9262872" y="2560320"/>
            <a:ext cx="2084832" cy="566928"/>
          </a:xfrm>
          <a:prstGeom prst="rect">
            <a:avLst/>
          </a:prstGeom>
          <a:noFill/>
          <a:ln/>
        </p:spPr>
        <p:txBody>
          <a:bodyPr wrap="square" rtlCol="0" anchor="ctr"/>
          <a:lstStyle/>
          <a:p>
            <a:pPr indent="0" marL="0">
              <a:buNone/>
            </a:pPr>
            <a:r>
              <a:rPr lang="en-US" sz="3000" b="1" dirty="0">
                <a:solidFill>
                  <a:srgbClr val="00B140"/>
                </a:solidFill>
                <a:latin typeface="Arial" pitchFamily="34" charset="0"/>
                <a:ea typeface="Arial" pitchFamily="34" charset="-122"/>
                <a:cs typeface="Arial" pitchFamily="34" charset="-120"/>
              </a:rPr>
              <a:t>~5 sec</a:t>
            </a:r>
            <a:endParaRPr lang="en-US" sz="3000" dirty="0"/>
          </a:p>
        </p:txBody>
      </p:sp>
      <p:sp>
        <p:nvSpPr>
          <p:cNvPr id="21" name="Text 19"/>
          <p:cNvSpPr/>
          <p:nvPr/>
        </p:nvSpPr>
        <p:spPr>
          <a:xfrm>
            <a:off x="9262872" y="3127248"/>
            <a:ext cx="2084832" cy="274320"/>
          </a:xfrm>
          <a:prstGeom prst="rect">
            <a:avLst/>
          </a:prstGeom>
          <a:noFill/>
          <a:ln/>
        </p:spPr>
        <p:txBody>
          <a:bodyPr wrap="square" rtlCol="0" anchor="ctr"/>
          <a:lstStyle/>
          <a:p>
            <a:pPr indent="0" marL="0">
              <a:buNone/>
            </a:pPr>
            <a:r>
              <a:rPr lang="en-US" sz="1250" b="1" dirty="0">
                <a:solidFill>
                  <a:srgbClr val="0F1724"/>
                </a:solidFill>
                <a:latin typeface="Arial" pitchFamily="34" charset="0"/>
                <a:ea typeface="Arial" pitchFamily="34" charset="-122"/>
                <a:cs typeface="Arial" pitchFamily="34" charset="-120"/>
              </a:rPr>
              <a:t>upload to report</a:t>
            </a:r>
            <a:endParaRPr lang="en-US" sz="1250" dirty="0"/>
          </a:p>
        </p:txBody>
      </p:sp>
      <p:sp>
        <p:nvSpPr>
          <p:cNvPr id="22" name="Text 20"/>
          <p:cNvSpPr/>
          <p:nvPr/>
        </p:nvSpPr>
        <p:spPr>
          <a:xfrm>
            <a:off x="9262872" y="3401568"/>
            <a:ext cx="2084832" cy="457200"/>
          </a:xfrm>
          <a:prstGeom prst="rect">
            <a:avLst/>
          </a:prstGeom>
          <a:noFill/>
          <a:ln/>
        </p:spPr>
        <p:txBody>
          <a:bodyPr wrap="square" rtlCol="0" anchor="ctr"/>
          <a:lstStyle/>
          <a:p>
            <a:pPr indent="0" marL="0">
              <a:buNone/>
            </a:pPr>
            <a:r>
              <a:rPr lang="en-US" sz="1050" dirty="0">
                <a:solidFill>
                  <a:srgbClr val="5B6478"/>
                </a:solidFill>
                <a:latin typeface="Arial" pitchFamily="34" charset="0"/>
                <a:ea typeface="Arial" pitchFamily="34" charset="-122"/>
                <a:cs typeface="Arial" pitchFamily="34" charset="-120"/>
              </a:rPr>
              <a:t>including the written summary</a:t>
            </a:r>
            <a:endParaRPr lang="en-US" sz="1050" dirty="0"/>
          </a:p>
        </p:txBody>
      </p:sp>
      <p:sp>
        <p:nvSpPr>
          <p:cNvPr id="23" name="Text 21"/>
          <p:cNvSpPr/>
          <p:nvPr/>
        </p:nvSpPr>
        <p:spPr>
          <a:xfrm>
            <a:off x="777240" y="4343400"/>
            <a:ext cx="10637215" cy="457200"/>
          </a:xfrm>
          <a:prstGeom prst="rect">
            <a:avLst/>
          </a:prstGeom>
          <a:noFill/>
          <a:ln/>
        </p:spPr>
        <p:txBody>
          <a:bodyPr wrap="square" rtlCol="0" anchor="ctr"/>
          <a:lstStyle/>
          <a:p>
            <a:pPr indent="0" marL="0">
              <a:buNone/>
            </a:pPr>
            <a:r>
              <a:rPr lang="en-US" sz="1400" dirty="0">
                <a:solidFill>
                  <a:srgbClr val="0F1724"/>
                </a:solidFill>
                <a:latin typeface="Arial" pitchFamily="34" charset="0"/>
                <a:ea typeface="Arial" pitchFamily="34" charset="-122"/>
                <a:cs typeface="Arial" pitchFamily="34" charset="-120"/>
              </a:rPr>
              <a:t>The same file, prepared by hand, was a morning of work — and produced a summary that depended on who wrote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WHAT THE ANALYSIS LOOKS FOR</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Five questions, answered on every upload</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4</a:t>
            </a:r>
            <a:endParaRPr lang="en-US" sz="900" dirty="0"/>
          </a:p>
        </p:txBody>
      </p:sp>
      <p:sp>
        <p:nvSpPr>
          <p:cNvPr id="6" name="Shape 4"/>
          <p:cNvSpPr/>
          <p:nvPr/>
        </p:nvSpPr>
        <p:spPr>
          <a:xfrm>
            <a:off x="777240" y="1865376"/>
            <a:ext cx="310896" cy="310896"/>
          </a:xfrm>
          <a:prstGeom prst="ellipse">
            <a:avLst/>
          </a:prstGeom>
          <a:solidFill>
            <a:srgbClr val="00B140"/>
          </a:solidFill>
          <a:ln/>
        </p:spPr>
      </p:sp>
      <p:sp>
        <p:nvSpPr>
          <p:cNvPr id="7" name="Text 5"/>
          <p:cNvSpPr/>
          <p:nvPr/>
        </p:nvSpPr>
        <p:spPr>
          <a:xfrm>
            <a:off x="777240" y="1865376"/>
            <a:ext cx="310896" cy="310896"/>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234440" y="1847088"/>
            <a:ext cx="4663440" cy="292608"/>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Is anything unusual?</a:t>
            </a:r>
            <a:endParaRPr lang="en-US" sz="1500" dirty="0"/>
          </a:p>
        </p:txBody>
      </p:sp>
      <p:sp>
        <p:nvSpPr>
          <p:cNvPr id="9" name="Text 7"/>
          <p:cNvSpPr/>
          <p:nvPr/>
        </p:nvSpPr>
        <p:spPr>
          <a:xfrm>
            <a:off x="1234440" y="2148840"/>
            <a:ext cx="4663440"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Spikes and dips judged against what that hour of day normally looks like — so a busy evening is not an alarm, but a quiet 03:00 is.</a:t>
            </a:r>
            <a:endParaRPr lang="en-US" sz="1200" dirty="0"/>
          </a:p>
        </p:txBody>
      </p:sp>
      <p:sp>
        <p:nvSpPr>
          <p:cNvPr id="10" name="Shape 8"/>
          <p:cNvSpPr/>
          <p:nvPr/>
        </p:nvSpPr>
        <p:spPr>
          <a:xfrm>
            <a:off x="777240" y="3072384"/>
            <a:ext cx="310896" cy="310896"/>
          </a:xfrm>
          <a:prstGeom prst="ellipse">
            <a:avLst/>
          </a:prstGeom>
          <a:solidFill>
            <a:srgbClr val="00B140"/>
          </a:solidFill>
          <a:ln/>
        </p:spPr>
      </p:sp>
      <p:sp>
        <p:nvSpPr>
          <p:cNvPr id="11" name="Text 9"/>
          <p:cNvSpPr/>
          <p:nvPr/>
        </p:nvSpPr>
        <p:spPr>
          <a:xfrm>
            <a:off x="777240" y="3072384"/>
            <a:ext cx="310896" cy="310896"/>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234440" y="3054096"/>
            <a:ext cx="4663440" cy="292608"/>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Has something changed for good?</a:t>
            </a:r>
            <a:endParaRPr lang="en-US" sz="1500" dirty="0"/>
          </a:p>
        </p:txBody>
      </p:sp>
      <p:sp>
        <p:nvSpPr>
          <p:cNvPr id="13" name="Text 11"/>
          <p:cNvSpPr/>
          <p:nvPr/>
        </p:nvSpPr>
        <p:spPr>
          <a:xfrm>
            <a:off x="1234440" y="3355848"/>
            <a:ext cx="4663440"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A step change that persists, which usually means a configuration change or rerouted traffic rather than demand.</a:t>
            </a:r>
            <a:endParaRPr lang="en-US" sz="1200" dirty="0"/>
          </a:p>
        </p:txBody>
      </p:sp>
      <p:sp>
        <p:nvSpPr>
          <p:cNvPr id="14" name="Shape 12"/>
          <p:cNvSpPr/>
          <p:nvPr/>
        </p:nvSpPr>
        <p:spPr>
          <a:xfrm>
            <a:off x="777240" y="4279392"/>
            <a:ext cx="310896" cy="310896"/>
          </a:xfrm>
          <a:prstGeom prst="ellipse">
            <a:avLst/>
          </a:prstGeom>
          <a:solidFill>
            <a:srgbClr val="00B140"/>
          </a:solidFill>
          <a:ln/>
        </p:spPr>
      </p:sp>
      <p:sp>
        <p:nvSpPr>
          <p:cNvPr id="15" name="Text 13"/>
          <p:cNvSpPr/>
          <p:nvPr/>
        </p:nvSpPr>
        <p:spPr>
          <a:xfrm>
            <a:off x="777240" y="4279392"/>
            <a:ext cx="310896" cy="310896"/>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1234440" y="4261104"/>
            <a:ext cx="4663440" cy="292608"/>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Where is this heading?</a:t>
            </a:r>
            <a:endParaRPr lang="en-US" sz="1500" dirty="0"/>
          </a:p>
        </p:txBody>
      </p:sp>
      <p:sp>
        <p:nvSpPr>
          <p:cNvPr id="17" name="Text 15"/>
          <p:cNvSpPr/>
          <p:nvPr/>
        </p:nvSpPr>
        <p:spPr>
          <a:xfrm>
            <a:off x="1234440" y="4562856"/>
            <a:ext cx="4663440"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A trend with a confidence measure, and a forecast only when the trend is real.</a:t>
            </a:r>
            <a:endParaRPr lang="en-US" sz="1200" dirty="0"/>
          </a:p>
        </p:txBody>
      </p:sp>
      <p:sp>
        <p:nvSpPr>
          <p:cNvPr id="18" name="Shape 16"/>
          <p:cNvSpPr/>
          <p:nvPr/>
        </p:nvSpPr>
        <p:spPr>
          <a:xfrm>
            <a:off x="6446520" y="1865376"/>
            <a:ext cx="310896" cy="310896"/>
          </a:xfrm>
          <a:prstGeom prst="ellipse">
            <a:avLst/>
          </a:prstGeom>
          <a:solidFill>
            <a:srgbClr val="00B140"/>
          </a:solidFill>
          <a:ln/>
        </p:spPr>
      </p:sp>
      <p:sp>
        <p:nvSpPr>
          <p:cNvPr id="19" name="Text 17"/>
          <p:cNvSpPr/>
          <p:nvPr/>
        </p:nvSpPr>
        <p:spPr>
          <a:xfrm>
            <a:off x="6446520" y="1865376"/>
            <a:ext cx="310896" cy="310896"/>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8"/>
          <p:cNvSpPr/>
          <p:nvPr/>
        </p:nvSpPr>
        <p:spPr>
          <a:xfrm>
            <a:off x="6903720" y="1847088"/>
            <a:ext cx="4663440" cy="292608"/>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Are we running out of room?</a:t>
            </a:r>
            <a:endParaRPr lang="en-US" sz="1500" dirty="0"/>
          </a:p>
        </p:txBody>
      </p:sp>
      <p:sp>
        <p:nvSpPr>
          <p:cNvPr id="21" name="Text 19"/>
          <p:cNvSpPr/>
          <p:nvPr/>
        </p:nvSpPr>
        <p:spPr>
          <a:xfrm>
            <a:off x="6903720" y="2148840"/>
            <a:ext cx="4663440"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Busy-period load against the target, with a projected date if growth is genuine.</a:t>
            </a:r>
            <a:endParaRPr lang="en-US" sz="1200" dirty="0"/>
          </a:p>
        </p:txBody>
      </p:sp>
      <p:sp>
        <p:nvSpPr>
          <p:cNvPr id="22" name="Shape 20"/>
          <p:cNvSpPr/>
          <p:nvPr/>
        </p:nvSpPr>
        <p:spPr>
          <a:xfrm>
            <a:off x="6446520" y="3072384"/>
            <a:ext cx="310896" cy="310896"/>
          </a:xfrm>
          <a:prstGeom prst="ellipse">
            <a:avLst/>
          </a:prstGeom>
          <a:solidFill>
            <a:srgbClr val="00B140"/>
          </a:solidFill>
          <a:ln/>
        </p:spPr>
      </p:sp>
      <p:sp>
        <p:nvSpPr>
          <p:cNvPr id="23" name="Text 21"/>
          <p:cNvSpPr/>
          <p:nvPr/>
        </p:nvSpPr>
        <p:spPr>
          <a:xfrm>
            <a:off x="6446520" y="3072384"/>
            <a:ext cx="310896" cy="310896"/>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4" name="Text 22"/>
          <p:cNvSpPr/>
          <p:nvPr/>
        </p:nvSpPr>
        <p:spPr>
          <a:xfrm>
            <a:off x="6903720" y="3054096"/>
            <a:ext cx="4663440" cy="292608"/>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Can we trust this export?</a:t>
            </a:r>
            <a:endParaRPr lang="en-US" sz="1500" dirty="0"/>
          </a:p>
        </p:txBody>
      </p:sp>
      <p:sp>
        <p:nvSpPr>
          <p:cNvPr id="25" name="Text 23"/>
          <p:cNvSpPr/>
          <p:nvPr/>
        </p:nvSpPr>
        <p:spPr>
          <a:xfrm>
            <a:off x="6903720" y="3355848"/>
            <a:ext cx="4663440"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Collection gaps, duplicates and stuck counters, scored out of 100 before any conclusion is drawn.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FOR THE SCEPTICS IN THE ROOM</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Why the findings are worth acting on</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5</a:t>
            </a:r>
            <a:endParaRPr lang="en-US" sz="900" dirty="0"/>
          </a:p>
        </p:txBody>
      </p:sp>
      <p:sp>
        <p:nvSpPr>
          <p:cNvPr id="6" name="Shape 4"/>
          <p:cNvSpPr/>
          <p:nvPr/>
        </p:nvSpPr>
        <p:spPr>
          <a:xfrm>
            <a:off x="777240" y="1929384"/>
            <a:ext cx="50292" cy="658368"/>
          </a:xfrm>
          <a:prstGeom prst="rect">
            <a:avLst/>
          </a:prstGeom>
          <a:solidFill>
            <a:srgbClr val="00B140"/>
          </a:solidFill>
          <a:ln/>
        </p:spPr>
      </p:sp>
      <p:sp>
        <p:nvSpPr>
          <p:cNvPr id="7" name="Text 5"/>
          <p:cNvSpPr/>
          <p:nvPr/>
        </p:nvSpPr>
        <p:spPr>
          <a:xfrm>
            <a:off x="1033272" y="1874520"/>
            <a:ext cx="3931920" cy="365760"/>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Compared like with like</a:t>
            </a:r>
            <a:endParaRPr lang="en-US" sz="1450" dirty="0"/>
          </a:p>
        </p:txBody>
      </p:sp>
      <p:sp>
        <p:nvSpPr>
          <p:cNvPr id="8" name="Text 6"/>
          <p:cNvSpPr/>
          <p:nvPr/>
        </p:nvSpPr>
        <p:spPr>
          <a:xfrm>
            <a:off x="5074920" y="1874520"/>
            <a:ext cx="63395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Every point is judged against its own hour-of-day baseline, not a flat average. Busy hours stop looking like incidents.</a:t>
            </a:r>
            <a:endParaRPr lang="en-US" sz="1200" dirty="0"/>
          </a:p>
        </p:txBody>
      </p:sp>
      <p:sp>
        <p:nvSpPr>
          <p:cNvPr id="9" name="Shape 7"/>
          <p:cNvSpPr/>
          <p:nvPr/>
        </p:nvSpPr>
        <p:spPr>
          <a:xfrm>
            <a:off x="777240" y="2862072"/>
            <a:ext cx="50292" cy="658368"/>
          </a:xfrm>
          <a:prstGeom prst="rect">
            <a:avLst/>
          </a:prstGeom>
          <a:solidFill>
            <a:srgbClr val="00B140"/>
          </a:solidFill>
          <a:ln/>
        </p:spPr>
      </p:sp>
      <p:sp>
        <p:nvSpPr>
          <p:cNvPr id="10" name="Text 8"/>
          <p:cNvSpPr/>
          <p:nvPr/>
        </p:nvSpPr>
        <p:spPr>
          <a:xfrm>
            <a:off x="1033272" y="2807208"/>
            <a:ext cx="3931920" cy="365760"/>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Two bars, not one</a:t>
            </a:r>
            <a:endParaRPr lang="en-US" sz="1450" dirty="0"/>
          </a:p>
        </p:txBody>
      </p:sp>
      <p:sp>
        <p:nvSpPr>
          <p:cNvPr id="11" name="Text 9"/>
          <p:cNvSpPr/>
          <p:nvPr/>
        </p:nvSpPr>
        <p:spPr>
          <a:xfrm>
            <a:off x="5074920" y="2807208"/>
            <a:ext cx="63395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A point must be both statistically unusual and materially different. A 9% wobble in a quiet bucket is not raised as major.</a:t>
            </a:r>
            <a:endParaRPr lang="en-US" sz="1200" dirty="0"/>
          </a:p>
        </p:txBody>
      </p:sp>
      <p:sp>
        <p:nvSpPr>
          <p:cNvPr id="12" name="Shape 10"/>
          <p:cNvSpPr/>
          <p:nvPr/>
        </p:nvSpPr>
        <p:spPr>
          <a:xfrm>
            <a:off x="777240" y="3794760"/>
            <a:ext cx="50292" cy="658368"/>
          </a:xfrm>
          <a:prstGeom prst="rect">
            <a:avLst/>
          </a:prstGeom>
          <a:solidFill>
            <a:srgbClr val="00B140"/>
          </a:solidFill>
          <a:ln/>
        </p:spPr>
      </p:sp>
      <p:sp>
        <p:nvSpPr>
          <p:cNvPr id="13" name="Text 11"/>
          <p:cNvSpPr/>
          <p:nvPr/>
        </p:nvSpPr>
        <p:spPr>
          <a:xfrm>
            <a:off x="1033272" y="3739896"/>
            <a:ext cx="3931920" cy="365760"/>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Honest about weak signals</a:t>
            </a:r>
            <a:endParaRPr lang="en-US" sz="1450" dirty="0"/>
          </a:p>
        </p:txBody>
      </p:sp>
      <p:sp>
        <p:nvSpPr>
          <p:cNvPr id="14" name="Text 12"/>
          <p:cNvSpPr/>
          <p:nvPr/>
        </p:nvSpPr>
        <p:spPr>
          <a:xfrm>
            <a:off x="5074920" y="3739896"/>
            <a:ext cx="63395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Where a trend explains little of the variation it is reported as flat and no forecast is produced, instead of drawing a confident line through noise.</a:t>
            </a:r>
            <a:endParaRPr lang="en-US" sz="1200" dirty="0"/>
          </a:p>
        </p:txBody>
      </p:sp>
      <p:sp>
        <p:nvSpPr>
          <p:cNvPr id="15" name="Shape 13"/>
          <p:cNvSpPr/>
          <p:nvPr/>
        </p:nvSpPr>
        <p:spPr>
          <a:xfrm>
            <a:off x="777240" y="4727448"/>
            <a:ext cx="50292" cy="658368"/>
          </a:xfrm>
          <a:prstGeom prst="rect">
            <a:avLst/>
          </a:prstGeom>
          <a:solidFill>
            <a:srgbClr val="00B140"/>
          </a:solidFill>
          <a:ln/>
        </p:spPr>
      </p:sp>
      <p:sp>
        <p:nvSpPr>
          <p:cNvPr id="16" name="Text 14"/>
          <p:cNvSpPr/>
          <p:nvPr/>
        </p:nvSpPr>
        <p:spPr>
          <a:xfrm>
            <a:off x="1033272" y="4672584"/>
            <a:ext cx="3931920" cy="365760"/>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Silence is a result</a:t>
            </a:r>
            <a:endParaRPr lang="en-US" sz="1450" dirty="0"/>
          </a:p>
        </p:txBody>
      </p:sp>
      <p:sp>
        <p:nvSpPr>
          <p:cNvPr id="17" name="Text 15"/>
          <p:cNvSpPr/>
          <p:nvPr/>
        </p:nvSpPr>
        <p:spPr>
          <a:xfrm>
            <a:off x="5074920" y="4672584"/>
            <a:ext cx="63395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A clean period is reported as clean. The platform does not manufacture findings to look useful.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REAL OUTPUT</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What a finished report shows</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6</a:t>
            </a:r>
            <a:endParaRPr lang="en-US" sz="900" dirty="0"/>
          </a:p>
        </p:txBody>
      </p:sp>
      <p:sp>
        <p:nvSpPr>
          <p:cNvPr id="6" name="Shape 4"/>
          <p:cNvSpPr/>
          <p:nvPr/>
        </p:nvSpPr>
        <p:spPr>
          <a:xfrm>
            <a:off x="777240" y="1783080"/>
            <a:ext cx="7223760" cy="3429000"/>
          </a:xfrm>
          <a:prstGeom prst="roundRect">
            <a:avLst>
              <a:gd name="adj" fmla="val 1600"/>
            </a:avLst>
          </a:prstGeom>
          <a:solidFill>
            <a:srgbClr val="0F1724"/>
          </a:solidFill>
          <a:ln w="12700">
            <a:solidFill>
              <a:srgbClr val="DDE3EA"/>
            </a:solidFill>
            <a:prstDash val="solid"/>
          </a:ln>
        </p:spPr>
      </p:sp>
      <p:pic>
        <p:nvPicPr>
          <p:cNvPr id="7" name="Image 0" descr="/tmp/deck-assets/deck_cmg-throughput-lines.png">    </p:cNvPr>
          <p:cNvPicPr>
            <a:picLocks noChangeAspect="1"/>
          </p:cNvPicPr>
          <p:nvPr/>
        </p:nvPicPr>
        <p:blipFill>
          <a:blip r:embed="rId1"/>
          <a:stretch>
            <a:fillRect/>
          </a:stretch>
        </p:blipFill>
        <p:spPr>
          <a:xfrm>
            <a:off x="886968" y="1892808"/>
            <a:ext cx="7004304" cy="3209544"/>
          </a:xfrm>
          <a:prstGeom prst="rect">
            <a:avLst/>
          </a:prstGeom>
        </p:spPr>
      </p:pic>
      <p:sp>
        <p:nvSpPr>
          <p:cNvPr id="8" name="Text 5"/>
          <p:cNvSpPr/>
          <p:nvPr/>
        </p:nvSpPr>
        <p:spPr>
          <a:xfrm>
            <a:off x="8321040" y="1783080"/>
            <a:ext cx="3093415" cy="274320"/>
          </a:xfrm>
          <a:prstGeom prst="rect">
            <a:avLst/>
          </a:prstGeom>
          <a:noFill/>
          <a:ln/>
        </p:spPr>
        <p:txBody>
          <a:bodyPr wrap="square" rtlCol="0" anchor="ctr"/>
          <a:lstStyle/>
          <a:p>
            <a:pPr indent="0" marL="0">
              <a:buNone/>
            </a:pPr>
            <a:r>
              <a:rPr lang="en-US" sz="1200" b="1" dirty="0">
                <a:solidFill>
                  <a:srgbClr val="00B140"/>
                </a:solidFill>
                <a:latin typeface="Arial" pitchFamily="34" charset="0"/>
                <a:ea typeface="Arial" pitchFamily="34" charset="-122"/>
                <a:cs typeface="Arial" pitchFamily="34" charset="-120"/>
              </a:rPr>
              <a:t>Written summary</a:t>
            </a:r>
            <a:endParaRPr lang="en-US" sz="1200" dirty="0"/>
          </a:p>
        </p:txBody>
      </p:sp>
      <p:sp>
        <p:nvSpPr>
          <p:cNvPr id="9" name="Text 6"/>
          <p:cNvSpPr/>
          <p:nvPr/>
        </p:nvSpPr>
        <p:spPr>
          <a:xfrm>
            <a:off x="8321040" y="2103120"/>
            <a:ext cx="3093415" cy="1554480"/>
          </a:xfrm>
          <a:prstGeom prst="rect">
            <a:avLst/>
          </a:prstGeom>
          <a:noFill/>
          <a:ln/>
        </p:spPr>
        <p:txBody>
          <a:bodyPr wrap="square" rtlCol="0" anchor="ctr"/>
          <a:lstStyle/>
          <a:p>
            <a:pPr indent="0" marL="0">
              <a:lnSpc>
                <a:spcPct val="125000"/>
              </a:lnSpc>
              <a:buNone/>
            </a:pPr>
            <a:r>
              <a:rPr lang="en-US" sz="1150" i="1" dirty="0">
                <a:solidFill>
                  <a:srgbClr val="0F1724"/>
                </a:solidFill>
                <a:latin typeface="Arial" pitchFamily="34" charset="0"/>
                <a:ea typeface="Arial" pitchFamily="34" charset="-122"/>
                <a:cs typeface="Arial" pitchFamily="34" charset="-120"/>
              </a:rPr>
              <a:t>"Data throughput across 3 days at 15-minute resolution (288 periods). Typical level 247 Gbps, busy-period peak 383 Gbps. No anomalies, trend, or data-quality issues detected in this period."</a:t>
            </a:r>
            <a:endParaRPr lang="en-US" sz="1150" dirty="0"/>
          </a:p>
        </p:txBody>
      </p:sp>
      <p:sp>
        <p:nvSpPr>
          <p:cNvPr id="10" name="Shape 7"/>
          <p:cNvSpPr/>
          <p:nvPr/>
        </p:nvSpPr>
        <p:spPr>
          <a:xfrm>
            <a:off x="8321040" y="3749040"/>
            <a:ext cx="3093415" cy="1463040"/>
          </a:xfrm>
          <a:prstGeom prst="roundRect">
            <a:avLst>
              <a:gd name="adj" fmla="val 3750"/>
            </a:avLst>
          </a:prstGeom>
          <a:solidFill>
            <a:srgbClr val="F4FAF6"/>
          </a:solidFill>
          <a:ln w="12700">
            <a:solidFill>
              <a:srgbClr val="DDE3EA"/>
            </a:solidFill>
            <a:prstDash val="solid"/>
          </a:ln>
        </p:spPr>
      </p:sp>
      <p:sp>
        <p:nvSpPr>
          <p:cNvPr id="11" name="Text 8"/>
          <p:cNvSpPr/>
          <p:nvPr/>
        </p:nvSpPr>
        <p:spPr>
          <a:xfrm>
            <a:off x="8503920" y="3913632"/>
            <a:ext cx="2727655" cy="274320"/>
          </a:xfrm>
          <a:prstGeom prst="rect">
            <a:avLst/>
          </a:prstGeom>
          <a:noFill/>
          <a:ln/>
        </p:spPr>
        <p:txBody>
          <a:bodyPr wrap="square" rtlCol="0" anchor="ctr"/>
          <a:lstStyle/>
          <a:p>
            <a:pPr indent="0" marL="0">
              <a:buNone/>
            </a:pPr>
            <a:r>
              <a:rPr lang="en-US" sz="1300" b="1" dirty="0">
                <a:solidFill>
                  <a:srgbClr val="00B140"/>
                </a:solidFill>
                <a:latin typeface="Arial" pitchFamily="34" charset="0"/>
                <a:ea typeface="Arial" pitchFamily="34" charset="-122"/>
                <a:cs typeface="Arial" pitchFamily="34" charset="-120"/>
              </a:rPr>
              <a:t>Data quality  100 / 100</a:t>
            </a:r>
            <a:endParaRPr lang="en-US" sz="1300" dirty="0"/>
          </a:p>
        </p:txBody>
      </p:sp>
      <p:sp>
        <p:nvSpPr>
          <p:cNvPr id="12" name="Text 9"/>
          <p:cNvSpPr/>
          <p:nvPr/>
        </p:nvSpPr>
        <p:spPr>
          <a:xfrm>
            <a:off x="8503920" y="4206240"/>
            <a:ext cx="2727655" cy="914400"/>
          </a:xfrm>
          <a:prstGeom prst="rect">
            <a:avLst/>
          </a:prstGeom>
          <a:noFill/>
          <a:ln/>
        </p:spPr>
        <p:txBody>
          <a:bodyPr wrap="square" rtlCol="0" anchor="ctr"/>
          <a:lstStyle/>
          <a:p>
            <a:pPr indent="0" marL="0">
              <a:lnSpc>
                <a:spcPct val="120000"/>
              </a:lnSpc>
              <a:buNone/>
            </a:pPr>
            <a:r>
              <a:rPr lang="en-US" sz="1050" dirty="0">
                <a:solidFill>
                  <a:srgbClr val="5B6478"/>
                </a:solidFill>
                <a:latin typeface="Arial" pitchFamily="34" charset="0"/>
                <a:ea typeface="Arial" pitchFamily="34" charset="-122"/>
                <a:cs typeface="Arial" pitchFamily="34" charset="-120"/>
              </a:rPr>
              <a:t>100% of expected data points present.</a:t>
            </a:r>
            <a:endParaRPr lang="en-US" sz="1050" dirty="0"/>
          </a:p>
          <a:p>
            <a:pPr indent="0" marL="0">
              <a:lnSpc>
                <a:spcPct val="120000"/>
              </a:lnSpc>
              <a:buNone/>
            </a:pPr>
            <a:r>
              <a:rPr lang="en-US" sz="1050" dirty="0">
                <a:solidFill>
                  <a:srgbClr val="5B6478"/>
                </a:solidFill>
                <a:latin typeface="Arial" pitchFamily="34" charset="0"/>
                <a:ea typeface="Arial" pitchFamily="34" charset="-122"/>
                <a:cs typeface="Arial" pitchFamily="34" charset="-120"/>
              </a:rPr>
              <a:t>Busiest hour 23:00, quietest 07:00.</a:t>
            </a:r>
            <a:endParaRPr lang="en-US" sz="1050" dirty="0"/>
          </a:p>
          <a:p>
            <a:pPr indent="0" marL="0">
              <a:lnSpc>
                <a:spcPct val="120000"/>
              </a:lnSpc>
              <a:buNone/>
            </a:pPr>
            <a:r>
              <a:rPr lang="en-US" sz="1050" dirty="0">
                <a:solidFill>
                  <a:srgbClr val="5B6478"/>
                </a:solidFill>
                <a:latin typeface="Arial" pitchFamily="34" charset="0"/>
                <a:ea typeface="Arial" pitchFamily="34" charset="-122"/>
                <a:cs typeface="Arial" pitchFamily="34" charset="-120"/>
              </a:rPr>
              <a:t>Nothing flagged — a verified clean period,</a:t>
            </a:r>
            <a:endParaRPr lang="en-US" sz="1050" dirty="0"/>
          </a:p>
          <a:p>
            <a:pPr indent="0" marL="0">
              <a:lnSpc>
                <a:spcPct val="120000"/>
              </a:lnSpc>
              <a:buNone/>
            </a:pPr>
            <a:r>
              <a:rPr lang="en-US" sz="1050" dirty="0">
                <a:solidFill>
                  <a:srgbClr val="5B6478"/>
                </a:solidFill>
                <a:latin typeface="Arial" pitchFamily="34" charset="0"/>
                <a:ea typeface="Arial" pitchFamily="34" charset="-122"/>
                <a:cs typeface="Arial" pitchFamily="34" charset="-120"/>
              </a:rPr>
              <a:t>not an unchecked one.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WHAT IT IS WORTH</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For the business</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7</a:t>
            </a:r>
            <a:endParaRPr lang="en-US" sz="900" dirty="0"/>
          </a:p>
        </p:txBody>
      </p:sp>
      <p:sp>
        <p:nvSpPr>
          <p:cNvPr id="6" name="Shape 4"/>
          <p:cNvSpPr/>
          <p:nvPr/>
        </p:nvSpPr>
        <p:spPr>
          <a:xfrm>
            <a:off x="777240" y="1920240"/>
            <a:ext cx="5120640" cy="1234440"/>
          </a:xfrm>
          <a:prstGeom prst="roundRect">
            <a:avLst>
              <a:gd name="adj" fmla="val 4444"/>
            </a:avLst>
          </a:prstGeom>
          <a:solidFill>
            <a:srgbClr val="F4FAF6"/>
          </a:solidFill>
          <a:ln w="12700">
            <a:solidFill>
              <a:srgbClr val="DDE3EA"/>
            </a:solidFill>
            <a:prstDash val="solid"/>
          </a:ln>
        </p:spPr>
      </p:sp>
      <p:sp>
        <p:nvSpPr>
          <p:cNvPr id="7" name="Text 5"/>
          <p:cNvSpPr/>
          <p:nvPr/>
        </p:nvSpPr>
        <p:spPr>
          <a:xfrm>
            <a:off x="1051560" y="2121408"/>
            <a:ext cx="4572000" cy="310896"/>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Reporting time collapses</a:t>
            </a:r>
            <a:endParaRPr lang="en-US" sz="1500" dirty="0"/>
          </a:p>
        </p:txBody>
      </p:sp>
      <p:sp>
        <p:nvSpPr>
          <p:cNvPr id="8" name="Text 6"/>
          <p:cNvSpPr/>
          <p:nvPr/>
        </p:nvSpPr>
        <p:spPr>
          <a:xfrm>
            <a:off x="1051560" y="2468880"/>
            <a:ext cx="4572000" cy="566928"/>
          </a:xfrm>
          <a:prstGeom prst="rect">
            <a:avLst/>
          </a:prstGeom>
          <a:noFill/>
          <a:ln/>
        </p:spPr>
        <p:txBody>
          <a:bodyPr wrap="square" rtlCol="0" anchor="ctr"/>
          <a:lstStyle/>
          <a:p>
            <a:pPr indent="0" marL="0">
              <a:lnSpc>
                <a:spcPct val="120000"/>
              </a:lnSpc>
              <a:buNone/>
            </a:pPr>
            <a:r>
              <a:rPr lang="en-US" sz="1150" dirty="0">
                <a:solidFill>
                  <a:srgbClr val="5B6478"/>
                </a:solidFill>
                <a:latin typeface="Arial" pitchFamily="34" charset="0"/>
                <a:ea typeface="Arial" pitchFamily="34" charset="-122"/>
                <a:cs typeface="Arial" pitchFamily="34" charset="-120"/>
              </a:rPr>
              <a:t>A task measured in hours becomes one measured in seconds, repeatable by anyone on the team.</a:t>
            </a:r>
            <a:endParaRPr lang="en-US" sz="1150" dirty="0"/>
          </a:p>
        </p:txBody>
      </p:sp>
      <p:sp>
        <p:nvSpPr>
          <p:cNvPr id="9" name="Shape 7"/>
          <p:cNvSpPr/>
          <p:nvPr/>
        </p:nvSpPr>
        <p:spPr>
          <a:xfrm>
            <a:off x="6446520" y="1920240"/>
            <a:ext cx="5120640" cy="1234440"/>
          </a:xfrm>
          <a:prstGeom prst="roundRect">
            <a:avLst>
              <a:gd name="adj" fmla="val 4444"/>
            </a:avLst>
          </a:prstGeom>
          <a:solidFill>
            <a:srgbClr val="F4FAF6"/>
          </a:solidFill>
          <a:ln w="12700">
            <a:solidFill>
              <a:srgbClr val="DDE3EA"/>
            </a:solidFill>
            <a:prstDash val="solid"/>
          </a:ln>
        </p:spPr>
      </p:sp>
      <p:sp>
        <p:nvSpPr>
          <p:cNvPr id="10" name="Text 8"/>
          <p:cNvSpPr/>
          <p:nvPr/>
        </p:nvSpPr>
        <p:spPr>
          <a:xfrm>
            <a:off x="6720840" y="2121408"/>
            <a:ext cx="4572000" cy="310896"/>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One version of the truth</a:t>
            </a:r>
            <a:endParaRPr lang="en-US" sz="1500" dirty="0"/>
          </a:p>
        </p:txBody>
      </p:sp>
      <p:sp>
        <p:nvSpPr>
          <p:cNvPr id="11" name="Text 9"/>
          <p:cNvSpPr/>
          <p:nvPr/>
        </p:nvSpPr>
        <p:spPr>
          <a:xfrm>
            <a:off x="6720840" y="2468880"/>
            <a:ext cx="4572000" cy="566928"/>
          </a:xfrm>
          <a:prstGeom prst="rect">
            <a:avLst/>
          </a:prstGeom>
          <a:noFill/>
          <a:ln/>
        </p:spPr>
        <p:txBody>
          <a:bodyPr wrap="square" rtlCol="0" anchor="ctr"/>
          <a:lstStyle/>
          <a:p>
            <a:pPr indent="0" marL="0">
              <a:lnSpc>
                <a:spcPct val="120000"/>
              </a:lnSpc>
              <a:buNone/>
            </a:pPr>
            <a:r>
              <a:rPr lang="en-US" sz="1150" dirty="0">
                <a:solidFill>
                  <a:srgbClr val="5B6478"/>
                </a:solidFill>
                <a:latin typeface="Arial" pitchFamily="34" charset="0"/>
                <a:ea typeface="Arial" pitchFamily="34" charset="-122"/>
                <a:cs typeface="Arial" pitchFamily="34" charset="-120"/>
              </a:rPr>
              <a:t>The same file always produces the same summary, with the numbers behind every statement.</a:t>
            </a:r>
            <a:endParaRPr lang="en-US" sz="1150" dirty="0"/>
          </a:p>
        </p:txBody>
      </p:sp>
      <p:sp>
        <p:nvSpPr>
          <p:cNvPr id="12" name="Shape 10"/>
          <p:cNvSpPr/>
          <p:nvPr/>
        </p:nvSpPr>
        <p:spPr>
          <a:xfrm>
            <a:off x="777240" y="3383280"/>
            <a:ext cx="5120640" cy="1234440"/>
          </a:xfrm>
          <a:prstGeom prst="roundRect">
            <a:avLst>
              <a:gd name="adj" fmla="val 4444"/>
            </a:avLst>
          </a:prstGeom>
          <a:solidFill>
            <a:srgbClr val="F4FAF6"/>
          </a:solidFill>
          <a:ln w="12700">
            <a:solidFill>
              <a:srgbClr val="DDE3EA"/>
            </a:solidFill>
            <a:prstDash val="solid"/>
          </a:ln>
        </p:spPr>
      </p:sp>
      <p:sp>
        <p:nvSpPr>
          <p:cNvPr id="13" name="Text 11"/>
          <p:cNvSpPr/>
          <p:nvPr/>
        </p:nvSpPr>
        <p:spPr>
          <a:xfrm>
            <a:off x="1051560" y="3584448"/>
            <a:ext cx="4572000" cy="310896"/>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Problems surface earlier</a:t>
            </a:r>
            <a:endParaRPr lang="en-US" sz="1500" dirty="0"/>
          </a:p>
        </p:txBody>
      </p:sp>
      <p:sp>
        <p:nvSpPr>
          <p:cNvPr id="14" name="Text 12"/>
          <p:cNvSpPr/>
          <p:nvPr/>
        </p:nvSpPr>
        <p:spPr>
          <a:xfrm>
            <a:off x="1051560" y="3931920"/>
            <a:ext cx="4572000" cy="566928"/>
          </a:xfrm>
          <a:prstGeom prst="rect">
            <a:avLst/>
          </a:prstGeom>
          <a:noFill/>
          <a:ln/>
        </p:spPr>
        <p:txBody>
          <a:bodyPr wrap="square" rtlCol="0" anchor="ctr"/>
          <a:lstStyle/>
          <a:p>
            <a:pPr indent="0" marL="0">
              <a:lnSpc>
                <a:spcPct val="120000"/>
              </a:lnSpc>
              <a:buNone/>
            </a:pPr>
            <a:r>
              <a:rPr lang="en-US" sz="1150" dirty="0">
                <a:solidFill>
                  <a:srgbClr val="5B6478"/>
                </a:solidFill>
                <a:latin typeface="Arial" pitchFamily="34" charset="0"/>
                <a:ea typeface="Arial" pitchFamily="34" charset="-122"/>
                <a:cs typeface="Arial" pitchFamily="34" charset="-120"/>
              </a:rPr>
              <a:t>Dips, step changes and slow growth are caught while they are still cheap to fix.</a:t>
            </a:r>
            <a:endParaRPr lang="en-US" sz="1150" dirty="0"/>
          </a:p>
        </p:txBody>
      </p:sp>
      <p:sp>
        <p:nvSpPr>
          <p:cNvPr id="15" name="Shape 13"/>
          <p:cNvSpPr/>
          <p:nvPr/>
        </p:nvSpPr>
        <p:spPr>
          <a:xfrm>
            <a:off x="6446520" y="3383280"/>
            <a:ext cx="5120640" cy="1234440"/>
          </a:xfrm>
          <a:prstGeom prst="roundRect">
            <a:avLst>
              <a:gd name="adj" fmla="val 4444"/>
            </a:avLst>
          </a:prstGeom>
          <a:solidFill>
            <a:srgbClr val="F4FAF6"/>
          </a:solidFill>
          <a:ln w="12700">
            <a:solidFill>
              <a:srgbClr val="DDE3EA"/>
            </a:solidFill>
            <a:prstDash val="solid"/>
          </a:ln>
        </p:spPr>
      </p:sp>
      <p:sp>
        <p:nvSpPr>
          <p:cNvPr id="16" name="Text 14"/>
          <p:cNvSpPr/>
          <p:nvPr/>
        </p:nvSpPr>
        <p:spPr>
          <a:xfrm>
            <a:off x="6720840" y="3584448"/>
            <a:ext cx="4572000" cy="310896"/>
          </a:xfrm>
          <a:prstGeom prst="rect">
            <a:avLst/>
          </a:prstGeom>
          <a:noFill/>
          <a:ln/>
        </p:spPr>
        <p:txBody>
          <a:bodyPr wrap="square" rtlCol="0" anchor="ctr"/>
          <a:lstStyle/>
          <a:p>
            <a:pPr indent="0" marL="0">
              <a:buNone/>
            </a:pPr>
            <a:r>
              <a:rPr lang="en-US" sz="1500" b="1" dirty="0">
                <a:solidFill>
                  <a:srgbClr val="0F1724"/>
                </a:solidFill>
                <a:latin typeface="Arial" pitchFamily="34" charset="0"/>
                <a:ea typeface="Arial" pitchFamily="34" charset="-122"/>
                <a:cs typeface="Arial" pitchFamily="34" charset="-120"/>
              </a:rPr>
              <a:t>Decisions are auditable</a:t>
            </a:r>
            <a:endParaRPr lang="en-US" sz="1500" dirty="0"/>
          </a:p>
        </p:txBody>
      </p:sp>
      <p:sp>
        <p:nvSpPr>
          <p:cNvPr id="17" name="Text 15"/>
          <p:cNvSpPr/>
          <p:nvPr/>
        </p:nvSpPr>
        <p:spPr>
          <a:xfrm>
            <a:off x="6720840" y="3931920"/>
            <a:ext cx="4572000" cy="566928"/>
          </a:xfrm>
          <a:prstGeom prst="rect">
            <a:avLst/>
          </a:prstGeom>
          <a:noFill/>
          <a:ln/>
        </p:spPr>
        <p:txBody>
          <a:bodyPr wrap="square" rtlCol="0" anchor="ctr"/>
          <a:lstStyle/>
          <a:p>
            <a:pPr indent="0" marL="0">
              <a:lnSpc>
                <a:spcPct val="120000"/>
              </a:lnSpc>
              <a:buNone/>
            </a:pPr>
            <a:r>
              <a:rPr lang="en-US" sz="1150" dirty="0">
                <a:solidFill>
                  <a:srgbClr val="5B6478"/>
                </a:solidFill>
                <a:latin typeface="Arial" pitchFamily="34" charset="0"/>
                <a:ea typeface="Arial" pitchFamily="34" charset="-122"/>
                <a:cs typeface="Arial" pitchFamily="34" charset="-120"/>
              </a:rPr>
              <a:t>Every report keeps its data, its charts and its reasoning, so a conclusion can be checked months later.</a:t>
            </a:r>
            <a:endParaRPr lang="en-US" sz="1150" dirty="0"/>
          </a:p>
        </p:txBody>
      </p:sp>
      <p:sp>
        <p:nvSpPr>
          <p:cNvPr id="18" name="Text 16"/>
          <p:cNvSpPr/>
          <p:nvPr/>
        </p:nvSpPr>
        <p:spPr>
          <a:xfrm>
            <a:off x="777240" y="5029200"/>
            <a:ext cx="10637215" cy="365760"/>
          </a:xfrm>
          <a:prstGeom prst="rect">
            <a:avLst/>
          </a:prstGeom>
          <a:noFill/>
          <a:ln/>
        </p:spPr>
        <p:txBody>
          <a:bodyPr wrap="square" rtlCol="0" anchor="ctr"/>
          <a:lstStyle/>
          <a:p>
            <a:pPr indent="0" marL="0">
              <a:buNone/>
            </a:pPr>
            <a:r>
              <a:rPr lang="en-US" sz="1300" i="1" dirty="0">
                <a:solidFill>
                  <a:srgbClr val="5B6478"/>
                </a:solidFill>
                <a:latin typeface="Arial" pitchFamily="34" charset="0"/>
                <a:ea typeface="Arial" pitchFamily="34" charset="-122"/>
                <a:cs typeface="Arial" pitchFamily="34" charset="-120"/>
              </a:rPr>
              <a:t>None of this asks the team to change how they export data.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WHAT IT IS WORTH</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For the Core team</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8</a:t>
            </a:r>
            <a:endParaRPr lang="en-US" sz="900" dirty="0"/>
          </a:p>
        </p:txBody>
      </p:sp>
      <p:sp>
        <p:nvSpPr>
          <p:cNvPr id="6" name="Shape 4"/>
          <p:cNvSpPr/>
          <p:nvPr/>
        </p:nvSpPr>
        <p:spPr>
          <a:xfrm>
            <a:off x="777240" y="1993392"/>
            <a:ext cx="146304" cy="146304"/>
          </a:xfrm>
          <a:prstGeom prst="ellipse">
            <a:avLst/>
          </a:prstGeom>
          <a:solidFill>
            <a:srgbClr val="00B140"/>
          </a:solidFill>
          <a:ln/>
        </p:spPr>
      </p:sp>
      <p:sp>
        <p:nvSpPr>
          <p:cNvPr id="7" name="Text 5"/>
          <p:cNvSpPr/>
          <p:nvPr/>
        </p:nvSpPr>
        <p:spPr>
          <a:xfrm>
            <a:off x="1143000" y="1920240"/>
            <a:ext cx="4206240" cy="329184"/>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New KPIs without a rewrite</a:t>
            </a:r>
            <a:endParaRPr lang="en-US" sz="1450" dirty="0"/>
          </a:p>
        </p:txBody>
      </p:sp>
      <p:sp>
        <p:nvSpPr>
          <p:cNvPr id="8" name="Text 6"/>
          <p:cNvSpPr/>
          <p:nvPr/>
        </p:nvSpPr>
        <p:spPr>
          <a:xfrm>
            <a:off x="5532120" y="1920240"/>
            <a:ext cx="58823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Each KPI is a self-contained module — validation, transformation, metrics and charts — added without touching the others.</a:t>
            </a:r>
            <a:endParaRPr lang="en-US" sz="1200" dirty="0"/>
          </a:p>
        </p:txBody>
      </p:sp>
      <p:sp>
        <p:nvSpPr>
          <p:cNvPr id="9" name="Shape 7"/>
          <p:cNvSpPr/>
          <p:nvPr/>
        </p:nvSpPr>
        <p:spPr>
          <a:xfrm>
            <a:off x="777240" y="2926080"/>
            <a:ext cx="146304" cy="146304"/>
          </a:xfrm>
          <a:prstGeom prst="ellipse">
            <a:avLst/>
          </a:prstGeom>
          <a:solidFill>
            <a:srgbClr val="00B140"/>
          </a:solidFill>
          <a:ln/>
        </p:spPr>
      </p:sp>
      <p:sp>
        <p:nvSpPr>
          <p:cNvPr id="10" name="Text 8"/>
          <p:cNvSpPr/>
          <p:nvPr/>
        </p:nvSpPr>
        <p:spPr>
          <a:xfrm>
            <a:off x="1143000" y="2852928"/>
            <a:ext cx="4206240" cy="329184"/>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Exports that are already formatted</a:t>
            </a:r>
            <a:endParaRPr lang="en-US" sz="1450" dirty="0"/>
          </a:p>
        </p:txBody>
      </p:sp>
      <p:sp>
        <p:nvSpPr>
          <p:cNvPr id="11" name="Text 9"/>
          <p:cNvSpPr/>
          <p:nvPr/>
        </p:nvSpPr>
        <p:spPr>
          <a:xfrm>
            <a:off x="5532120" y="2852928"/>
            <a:ext cx="58823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PowerPoint decks, chart images and JSON, generated from the report rather than rebuilt by hand.</a:t>
            </a:r>
            <a:endParaRPr lang="en-US" sz="1200" dirty="0"/>
          </a:p>
        </p:txBody>
      </p:sp>
      <p:sp>
        <p:nvSpPr>
          <p:cNvPr id="12" name="Shape 10"/>
          <p:cNvSpPr/>
          <p:nvPr/>
        </p:nvSpPr>
        <p:spPr>
          <a:xfrm>
            <a:off x="777240" y="3858768"/>
            <a:ext cx="146304" cy="146304"/>
          </a:xfrm>
          <a:prstGeom prst="ellipse">
            <a:avLst/>
          </a:prstGeom>
          <a:solidFill>
            <a:srgbClr val="00B140"/>
          </a:solidFill>
          <a:ln/>
        </p:spPr>
      </p:sp>
      <p:sp>
        <p:nvSpPr>
          <p:cNvPr id="13" name="Text 11"/>
          <p:cNvSpPr/>
          <p:nvPr/>
        </p:nvSpPr>
        <p:spPr>
          <a:xfrm>
            <a:off x="1143000" y="3785616"/>
            <a:ext cx="4206240" cy="329184"/>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Delivery where people already are</a:t>
            </a:r>
            <a:endParaRPr lang="en-US" sz="1450" dirty="0"/>
          </a:p>
        </p:txBody>
      </p:sp>
      <p:sp>
        <p:nvSpPr>
          <p:cNvPr id="14" name="Text 12"/>
          <p:cNvSpPr/>
          <p:nvPr/>
        </p:nvSpPr>
        <p:spPr>
          <a:xfrm>
            <a:off x="5532120" y="3785616"/>
            <a:ext cx="58823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Reports can be pushed to Microsoft Teams instead of waiting to be opened.</a:t>
            </a:r>
            <a:endParaRPr lang="en-US" sz="1200" dirty="0"/>
          </a:p>
        </p:txBody>
      </p:sp>
      <p:sp>
        <p:nvSpPr>
          <p:cNvPr id="15" name="Shape 13"/>
          <p:cNvSpPr/>
          <p:nvPr/>
        </p:nvSpPr>
        <p:spPr>
          <a:xfrm>
            <a:off x="777240" y="4791456"/>
            <a:ext cx="146304" cy="146304"/>
          </a:xfrm>
          <a:prstGeom prst="ellipse">
            <a:avLst/>
          </a:prstGeom>
          <a:solidFill>
            <a:srgbClr val="00B140"/>
          </a:solidFill>
          <a:ln/>
        </p:spPr>
      </p:sp>
      <p:sp>
        <p:nvSpPr>
          <p:cNvPr id="16" name="Text 14"/>
          <p:cNvSpPr/>
          <p:nvPr/>
        </p:nvSpPr>
        <p:spPr>
          <a:xfrm>
            <a:off x="1143000" y="4718304"/>
            <a:ext cx="4206240" cy="329184"/>
          </a:xfrm>
          <a:prstGeom prst="rect">
            <a:avLst/>
          </a:prstGeom>
          <a:noFill/>
          <a:ln/>
        </p:spPr>
        <p:txBody>
          <a:bodyPr wrap="square" rtlCol="0" anchor="ctr"/>
          <a:lstStyle/>
          <a:p>
            <a:pPr indent="0" marL="0">
              <a:buNone/>
            </a:pPr>
            <a:r>
              <a:rPr lang="en-US" sz="1450" b="1" dirty="0">
                <a:solidFill>
                  <a:srgbClr val="0F1724"/>
                </a:solidFill>
                <a:latin typeface="Arial" pitchFamily="34" charset="0"/>
                <a:ea typeface="Arial" pitchFamily="34" charset="-122"/>
                <a:cs typeface="Arial" pitchFamily="34" charset="-120"/>
              </a:rPr>
              <a:t>Open to other tools, safely</a:t>
            </a:r>
            <a:endParaRPr lang="en-US" sz="1450" dirty="0"/>
          </a:p>
        </p:txBody>
      </p:sp>
      <p:sp>
        <p:nvSpPr>
          <p:cNvPr id="17" name="Text 15"/>
          <p:cNvSpPr/>
          <p:nvPr/>
        </p:nvSpPr>
        <p:spPr>
          <a:xfrm>
            <a:off x="5532120" y="4718304"/>
            <a:ext cx="5882335" cy="731520"/>
          </a:xfrm>
          <a:prstGeom prst="rect">
            <a:avLst/>
          </a:prstGeom>
          <a:noFill/>
          <a:ln/>
        </p:spPr>
        <p:txBody>
          <a:bodyPr wrap="square" rtlCol="0" anchor="t"/>
          <a:lstStyle/>
          <a:p>
            <a:pPr indent="0" marL="0">
              <a:lnSpc>
                <a:spcPct val="120000"/>
              </a:lnSpc>
              <a:buNone/>
            </a:pPr>
            <a:r>
              <a:rPr lang="en-US" sz="1200" dirty="0">
                <a:solidFill>
                  <a:srgbClr val="5B6478"/>
                </a:solidFill>
                <a:latin typeface="Arial" pitchFamily="34" charset="0"/>
                <a:ea typeface="Arial" pitchFamily="34" charset="-122"/>
                <a:cs typeface="Arial" pitchFamily="34" charset="-120"/>
              </a:rPr>
              <a:t>A read-only interface lets AI assistants and scripts query reports and findings — query only, never write.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rtlCol="0" anchor="ctr"/>
          <a:lstStyle/>
          <a:p>
            <a:pPr indent="0" marL="0">
              <a:buNone/>
            </a:pPr>
            <a:r>
              <a:rPr lang="en-US" sz="1100" b="1" spc="160" kern="0" dirty="0">
                <a:solidFill>
                  <a:srgbClr val="00B140"/>
                </a:solidFill>
                <a:latin typeface="Arial" pitchFamily="34" charset="0"/>
                <a:ea typeface="Arial" pitchFamily="34" charset="-122"/>
                <a:cs typeface="Arial" pitchFamily="34" charset="-120"/>
              </a:rPr>
              <a:t>WHERE IT GOES NEXT</a:t>
            </a:r>
            <a:endParaRPr lang="en-US" sz="1100" dirty="0"/>
          </a:p>
        </p:txBody>
      </p:sp>
      <p:sp>
        <p:nvSpPr>
          <p:cNvPr id="3" name="Text 1"/>
          <p:cNvSpPr/>
          <p:nvPr/>
        </p:nvSpPr>
        <p:spPr>
          <a:xfrm>
            <a:off x="777240" y="676656"/>
            <a:ext cx="10637215" cy="640080"/>
          </a:xfrm>
          <a:prstGeom prst="rect">
            <a:avLst/>
          </a:prstGeom>
          <a:noFill/>
          <a:ln/>
        </p:spPr>
        <p:txBody>
          <a:bodyPr wrap="square" rtlCol="0" anchor="ctr"/>
          <a:lstStyle/>
          <a:p>
            <a:pPr indent="0" marL="0">
              <a:buNone/>
            </a:pPr>
            <a:r>
              <a:rPr lang="en-US" sz="3000" b="1" dirty="0">
                <a:solidFill>
                  <a:srgbClr val="0F1724"/>
                </a:solidFill>
                <a:latin typeface="Arial" pitchFamily="34" charset="0"/>
                <a:ea typeface="Arial" pitchFamily="34" charset="-122"/>
                <a:cs typeface="Arial" pitchFamily="34" charset="-120"/>
              </a:rPr>
              <a:t>Live today, and what follows</a:t>
            </a:r>
            <a:endParaRPr lang="en-US" sz="3000" dirty="0"/>
          </a:p>
        </p:txBody>
      </p:sp>
      <p:sp>
        <p:nvSpPr>
          <p:cNvPr id="4" name="Shape 2"/>
          <p:cNvSpPr/>
          <p:nvPr/>
        </p:nvSpPr>
        <p:spPr>
          <a:xfrm>
            <a:off x="777240" y="1335024"/>
            <a:ext cx="822960" cy="50292"/>
          </a:xfrm>
          <a:prstGeom prst="rect">
            <a:avLst/>
          </a:prstGeom>
          <a:solidFill>
            <a:srgbClr val="00B140"/>
          </a:solidFill>
          <a:ln/>
        </p:spPr>
      </p:sp>
      <p:sp>
        <p:nvSpPr>
          <p:cNvPr id="5" name="Text 3"/>
          <p:cNvSpPr/>
          <p:nvPr/>
        </p:nvSpPr>
        <p:spPr>
          <a:xfrm>
            <a:off x="777240" y="6382512"/>
            <a:ext cx="10637215" cy="237744"/>
          </a:xfrm>
          <a:prstGeom prst="rect">
            <a:avLst/>
          </a:prstGeom>
          <a:noFill/>
          <a:ln/>
        </p:spPr>
        <p:txBody>
          <a:bodyPr wrap="square" rtlCol="0" anchor="ctr"/>
          <a:lstStyle/>
          <a:p>
            <a:pPr algn="r" indent="0" marL="0">
              <a:buNone/>
            </a:pPr>
            <a:r>
              <a:rPr lang="en-US" sz="900" dirty="0">
                <a:solidFill>
                  <a:srgbClr val="5B6478"/>
                </a:solidFill>
                <a:latin typeface="Arial" pitchFamily="34" charset="0"/>
                <a:ea typeface="Arial" pitchFamily="34" charset="-122"/>
                <a:cs typeface="Arial" pitchFamily="34" charset="-120"/>
              </a:rPr>
              <a:t>Core Insight  ·  9</a:t>
            </a:r>
            <a:endParaRPr lang="en-US" sz="900" dirty="0"/>
          </a:p>
        </p:txBody>
      </p:sp>
      <p:sp>
        <p:nvSpPr>
          <p:cNvPr id="6" name="Shape 4"/>
          <p:cNvSpPr/>
          <p:nvPr/>
        </p:nvSpPr>
        <p:spPr>
          <a:xfrm>
            <a:off x="777240" y="1874520"/>
            <a:ext cx="3520440" cy="50292"/>
          </a:xfrm>
          <a:prstGeom prst="rect">
            <a:avLst/>
          </a:prstGeom>
          <a:solidFill>
            <a:srgbClr val="00B140"/>
          </a:solidFill>
          <a:ln/>
        </p:spPr>
      </p:sp>
      <p:sp>
        <p:nvSpPr>
          <p:cNvPr id="7" name="Text 5"/>
          <p:cNvSpPr/>
          <p:nvPr/>
        </p:nvSpPr>
        <p:spPr>
          <a:xfrm>
            <a:off x="777240" y="2011680"/>
            <a:ext cx="3520440" cy="365760"/>
          </a:xfrm>
          <a:prstGeom prst="rect">
            <a:avLst/>
          </a:prstGeom>
          <a:noFill/>
          <a:ln/>
        </p:spPr>
        <p:txBody>
          <a:bodyPr wrap="square" rtlCol="0" anchor="ctr"/>
          <a:lstStyle/>
          <a:p>
            <a:pPr indent="0" marL="0">
              <a:buNone/>
            </a:pPr>
            <a:r>
              <a:rPr lang="en-US" sz="1600" b="1" dirty="0">
                <a:solidFill>
                  <a:srgbClr val="0F1724"/>
                </a:solidFill>
                <a:latin typeface="Arial" pitchFamily="34" charset="0"/>
                <a:ea typeface="Arial" pitchFamily="34" charset="-122"/>
                <a:cs typeface="Arial" pitchFamily="34" charset="-120"/>
              </a:rPr>
              <a:t>Live now</a:t>
            </a:r>
            <a:endParaRPr lang="en-US" sz="1600" dirty="0"/>
          </a:p>
        </p:txBody>
      </p:sp>
      <p:sp>
        <p:nvSpPr>
          <p:cNvPr id="8" name="Text 6"/>
          <p:cNvSpPr/>
          <p:nvPr/>
        </p:nvSpPr>
        <p:spPr>
          <a:xfrm>
            <a:off x="777240" y="2514600"/>
            <a:ext cx="182880" cy="274320"/>
          </a:xfrm>
          <a:prstGeom prst="rect">
            <a:avLst/>
          </a:prstGeom>
          <a:noFill/>
          <a:ln/>
        </p:spPr>
        <p:txBody>
          <a:bodyPr wrap="square" rtlCol="0" anchor="t"/>
          <a:lstStyle/>
          <a:p>
            <a:pPr indent="0" marL="0">
              <a:buNone/>
            </a:pPr>
            <a:r>
              <a:rPr lang="en-US" sz="1200" dirty="0">
                <a:solidFill>
                  <a:srgbClr val="00B140"/>
                </a:solidFill>
                <a:latin typeface="Arial" pitchFamily="34" charset="0"/>
                <a:ea typeface="Arial" pitchFamily="34" charset="-122"/>
                <a:cs typeface="Arial" pitchFamily="34" charset="-120"/>
              </a:rPr>
              <a:t>•</a:t>
            </a:r>
            <a:endParaRPr lang="en-US" sz="1200" dirty="0"/>
          </a:p>
        </p:txBody>
      </p:sp>
      <p:sp>
        <p:nvSpPr>
          <p:cNvPr id="9" name="Text 7"/>
          <p:cNvSpPr/>
          <p:nvPr/>
        </p:nvSpPr>
        <p:spPr>
          <a:xfrm>
            <a:off x="978408" y="2514600"/>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Two KPI workflows plus CMM workbooks</a:t>
            </a:r>
            <a:endParaRPr lang="en-US" sz="1150" dirty="0"/>
          </a:p>
        </p:txBody>
      </p:sp>
      <p:sp>
        <p:nvSpPr>
          <p:cNvPr id="10" name="Text 8"/>
          <p:cNvSpPr/>
          <p:nvPr/>
        </p:nvSpPr>
        <p:spPr>
          <a:xfrm>
            <a:off x="777240" y="3081528"/>
            <a:ext cx="182880" cy="274320"/>
          </a:xfrm>
          <a:prstGeom prst="rect">
            <a:avLst/>
          </a:prstGeom>
          <a:noFill/>
          <a:ln/>
        </p:spPr>
        <p:txBody>
          <a:bodyPr wrap="square" rtlCol="0" anchor="t"/>
          <a:lstStyle/>
          <a:p>
            <a:pPr indent="0" marL="0">
              <a:buNone/>
            </a:pPr>
            <a:r>
              <a:rPr lang="en-US" sz="1200" dirty="0">
                <a:solidFill>
                  <a:srgbClr val="00B140"/>
                </a:solidFill>
                <a:latin typeface="Arial" pitchFamily="34" charset="0"/>
                <a:ea typeface="Arial" pitchFamily="34" charset="-122"/>
                <a:cs typeface="Arial" pitchFamily="34" charset="-120"/>
              </a:rPr>
              <a:t>•</a:t>
            </a:r>
            <a:endParaRPr lang="en-US" sz="1200" dirty="0"/>
          </a:p>
        </p:txBody>
      </p:sp>
      <p:sp>
        <p:nvSpPr>
          <p:cNvPr id="11" name="Text 9"/>
          <p:cNvSpPr/>
          <p:nvPr/>
        </p:nvSpPr>
        <p:spPr>
          <a:xfrm>
            <a:off x="978408" y="3081528"/>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Seasonal anomaly detection and forecasting</a:t>
            </a:r>
            <a:endParaRPr lang="en-US" sz="1150" dirty="0"/>
          </a:p>
        </p:txBody>
      </p:sp>
      <p:sp>
        <p:nvSpPr>
          <p:cNvPr id="12" name="Text 10"/>
          <p:cNvSpPr/>
          <p:nvPr/>
        </p:nvSpPr>
        <p:spPr>
          <a:xfrm>
            <a:off x="777240" y="3648456"/>
            <a:ext cx="182880" cy="274320"/>
          </a:xfrm>
          <a:prstGeom prst="rect">
            <a:avLst/>
          </a:prstGeom>
          <a:noFill/>
          <a:ln/>
        </p:spPr>
        <p:txBody>
          <a:bodyPr wrap="square" rtlCol="0" anchor="t"/>
          <a:lstStyle/>
          <a:p>
            <a:pPr indent="0" marL="0">
              <a:buNone/>
            </a:pPr>
            <a:r>
              <a:rPr lang="en-US" sz="1200" dirty="0">
                <a:solidFill>
                  <a:srgbClr val="00B140"/>
                </a:solidFill>
                <a:latin typeface="Arial" pitchFamily="34" charset="0"/>
                <a:ea typeface="Arial" pitchFamily="34" charset="-122"/>
                <a:cs typeface="Arial" pitchFamily="34" charset="-120"/>
              </a:rPr>
              <a:t>•</a:t>
            </a:r>
            <a:endParaRPr lang="en-US" sz="1200" dirty="0"/>
          </a:p>
        </p:txBody>
      </p:sp>
      <p:sp>
        <p:nvSpPr>
          <p:cNvPr id="13" name="Text 11"/>
          <p:cNvSpPr/>
          <p:nvPr/>
        </p:nvSpPr>
        <p:spPr>
          <a:xfrm>
            <a:off x="978408" y="3648456"/>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Server-rendered charts, stored durably</a:t>
            </a:r>
            <a:endParaRPr lang="en-US" sz="1150" dirty="0"/>
          </a:p>
        </p:txBody>
      </p:sp>
      <p:sp>
        <p:nvSpPr>
          <p:cNvPr id="14" name="Text 12"/>
          <p:cNvSpPr/>
          <p:nvPr/>
        </p:nvSpPr>
        <p:spPr>
          <a:xfrm>
            <a:off x="777240" y="4215384"/>
            <a:ext cx="182880" cy="274320"/>
          </a:xfrm>
          <a:prstGeom prst="rect">
            <a:avLst/>
          </a:prstGeom>
          <a:noFill/>
          <a:ln/>
        </p:spPr>
        <p:txBody>
          <a:bodyPr wrap="square" rtlCol="0" anchor="t"/>
          <a:lstStyle/>
          <a:p>
            <a:pPr indent="0" marL="0">
              <a:buNone/>
            </a:pPr>
            <a:r>
              <a:rPr lang="en-US" sz="1200" dirty="0">
                <a:solidFill>
                  <a:srgbClr val="00B140"/>
                </a:solidFill>
                <a:latin typeface="Arial" pitchFamily="34" charset="0"/>
                <a:ea typeface="Arial" pitchFamily="34" charset="-122"/>
                <a:cs typeface="Arial" pitchFamily="34" charset="-120"/>
              </a:rPr>
              <a:t>•</a:t>
            </a:r>
            <a:endParaRPr lang="en-US" sz="1200" dirty="0"/>
          </a:p>
        </p:txBody>
      </p:sp>
      <p:sp>
        <p:nvSpPr>
          <p:cNvPr id="15" name="Text 13"/>
          <p:cNvSpPr/>
          <p:nvPr/>
        </p:nvSpPr>
        <p:spPr>
          <a:xfrm>
            <a:off x="978408" y="4215384"/>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PowerPoint, JSON and image exports</a:t>
            </a:r>
            <a:endParaRPr lang="en-US" sz="1150" dirty="0"/>
          </a:p>
        </p:txBody>
      </p:sp>
      <p:sp>
        <p:nvSpPr>
          <p:cNvPr id="16" name="Text 14"/>
          <p:cNvSpPr/>
          <p:nvPr/>
        </p:nvSpPr>
        <p:spPr>
          <a:xfrm>
            <a:off x="777240" y="4782312"/>
            <a:ext cx="182880" cy="274320"/>
          </a:xfrm>
          <a:prstGeom prst="rect">
            <a:avLst/>
          </a:prstGeom>
          <a:noFill/>
          <a:ln/>
        </p:spPr>
        <p:txBody>
          <a:bodyPr wrap="square" rtlCol="0" anchor="t"/>
          <a:lstStyle/>
          <a:p>
            <a:pPr indent="0" marL="0">
              <a:buNone/>
            </a:pPr>
            <a:r>
              <a:rPr lang="en-US" sz="1200" dirty="0">
                <a:solidFill>
                  <a:srgbClr val="00B140"/>
                </a:solidFill>
                <a:latin typeface="Arial" pitchFamily="34" charset="0"/>
                <a:ea typeface="Arial" pitchFamily="34" charset="-122"/>
                <a:cs typeface="Arial" pitchFamily="34" charset="-120"/>
              </a:rPr>
              <a:t>•</a:t>
            </a:r>
            <a:endParaRPr lang="en-US" sz="1200" dirty="0"/>
          </a:p>
        </p:txBody>
      </p:sp>
      <p:sp>
        <p:nvSpPr>
          <p:cNvPr id="17" name="Text 15"/>
          <p:cNvSpPr/>
          <p:nvPr/>
        </p:nvSpPr>
        <p:spPr>
          <a:xfrm>
            <a:off x="978408" y="4782312"/>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Deployed and reachable by the team</a:t>
            </a:r>
            <a:endParaRPr lang="en-US" sz="1150" dirty="0"/>
          </a:p>
        </p:txBody>
      </p:sp>
      <p:sp>
        <p:nvSpPr>
          <p:cNvPr id="18" name="Shape 16"/>
          <p:cNvSpPr/>
          <p:nvPr/>
        </p:nvSpPr>
        <p:spPr>
          <a:xfrm>
            <a:off x="4626864" y="1874520"/>
            <a:ext cx="3520440" cy="50292"/>
          </a:xfrm>
          <a:prstGeom prst="rect">
            <a:avLst/>
          </a:prstGeom>
          <a:solidFill>
            <a:srgbClr val="9AA7B4"/>
          </a:solidFill>
          <a:ln/>
        </p:spPr>
      </p:sp>
      <p:sp>
        <p:nvSpPr>
          <p:cNvPr id="19" name="Text 17"/>
          <p:cNvSpPr/>
          <p:nvPr/>
        </p:nvSpPr>
        <p:spPr>
          <a:xfrm>
            <a:off x="4626864" y="2011680"/>
            <a:ext cx="3520440" cy="365760"/>
          </a:xfrm>
          <a:prstGeom prst="rect">
            <a:avLst/>
          </a:prstGeom>
          <a:noFill/>
          <a:ln/>
        </p:spPr>
        <p:txBody>
          <a:bodyPr wrap="square" rtlCol="0" anchor="ctr"/>
          <a:lstStyle/>
          <a:p>
            <a:pPr indent="0" marL="0">
              <a:buNone/>
            </a:pPr>
            <a:r>
              <a:rPr lang="en-US" sz="1600" b="1" dirty="0">
                <a:solidFill>
                  <a:srgbClr val="0F1724"/>
                </a:solidFill>
                <a:latin typeface="Arial" pitchFamily="34" charset="0"/>
                <a:ea typeface="Arial" pitchFamily="34" charset="-122"/>
                <a:cs typeface="Arial" pitchFamily="34" charset="-120"/>
              </a:rPr>
              <a:t>In build</a:t>
            </a:r>
            <a:endParaRPr lang="en-US" sz="1600" dirty="0"/>
          </a:p>
        </p:txBody>
      </p:sp>
      <p:sp>
        <p:nvSpPr>
          <p:cNvPr id="20" name="Text 18"/>
          <p:cNvSpPr/>
          <p:nvPr/>
        </p:nvSpPr>
        <p:spPr>
          <a:xfrm>
            <a:off x="4626864" y="2514600"/>
            <a:ext cx="182880" cy="274320"/>
          </a:xfrm>
          <a:prstGeom prst="rect">
            <a:avLst/>
          </a:prstGeom>
          <a:noFill/>
          <a:ln/>
        </p:spPr>
        <p:txBody>
          <a:bodyPr wrap="square" rtlCol="0" anchor="t"/>
          <a:lstStyle/>
          <a:p>
            <a:pPr indent="0" marL="0">
              <a:buNone/>
            </a:pPr>
            <a:r>
              <a:rPr lang="en-US" sz="1200" dirty="0">
                <a:solidFill>
                  <a:srgbClr val="9AA7B4"/>
                </a:solidFill>
                <a:latin typeface="Arial" pitchFamily="34" charset="0"/>
                <a:ea typeface="Arial" pitchFamily="34" charset="-122"/>
                <a:cs typeface="Arial" pitchFamily="34" charset="-120"/>
              </a:rPr>
              <a:t>•</a:t>
            </a:r>
            <a:endParaRPr lang="en-US" sz="1200" dirty="0"/>
          </a:p>
        </p:txBody>
      </p:sp>
      <p:sp>
        <p:nvSpPr>
          <p:cNvPr id="21" name="Text 19"/>
          <p:cNvSpPr/>
          <p:nvPr/>
        </p:nvSpPr>
        <p:spPr>
          <a:xfrm>
            <a:off x="4828032" y="2514600"/>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Read-only interface for AI assistants</a:t>
            </a:r>
            <a:endParaRPr lang="en-US" sz="1150" dirty="0"/>
          </a:p>
        </p:txBody>
      </p:sp>
      <p:sp>
        <p:nvSpPr>
          <p:cNvPr id="22" name="Text 20"/>
          <p:cNvSpPr/>
          <p:nvPr/>
        </p:nvSpPr>
        <p:spPr>
          <a:xfrm>
            <a:off x="4626864" y="3081528"/>
            <a:ext cx="182880" cy="274320"/>
          </a:xfrm>
          <a:prstGeom prst="rect">
            <a:avLst/>
          </a:prstGeom>
          <a:noFill/>
          <a:ln/>
        </p:spPr>
        <p:txBody>
          <a:bodyPr wrap="square" rtlCol="0" anchor="t"/>
          <a:lstStyle/>
          <a:p>
            <a:pPr indent="0" marL="0">
              <a:buNone/>
            </a:pPr>
            <a:r>
              <a:rPr lang="en-US" sz="1200" dirty="0">
                <a:solidFill>
                  <a:srgbClr val="9AA7B4"/>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4828032" y="3081528"/>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KPI definitions held in the database</a:t>
            </a:r>
            <a:endParaRPr lang="en-US" sz="1150" dirty="0"/>
          </a:p>
        </p:txBody>
      </p:sp>
      <p:sp>
        <p:nvSpPr>
          <p:cNvPr id="24" name="Text 22"/>
          <p:cNvSpPr/>
          <p:nvPr/>
        </p:nvSpPr>
        <p:spPr>
          <a:xfrm>
            <a:off x="4626864" y="3648456"/>
            <a:ext cx="182880" cy="274320"/>
          </a:xfrm>
          <a:prstGeom prst="rect">
            <a:avLst/>
          </a:prstGeom>
          <a:noFill/>
          <a:ln/>
        </p:spPr>
        <p:txBody>
          <a:bodyPr wrap="square" rtlCol="0" anchor="t"/>
          <a:lstStyle/>
          <a:p>
            <a:pPr indent="0" marL="0">
              <a:buNone/>
            </a:pPr>
            <a:r>
              <a:rPr lang="en-US" sz="1200" dirty="0">
                <a:solidFill>
                  <a:srgbClr val="9AA7B4"/>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4828032" y="3648456"/>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Assisted KPI creation, reviewed before import</a:t>
            </a:r>
            <a:endParaRPr lang="en-US" sz="1150" dirty="0"/>
          </a:p>
        </p:txBody>
      </p:sp>
      <p:sp>
        <p:nvSpPr>
          <p:cNvPr id="26" name="Shape 24"/>
          <p:cNvSpPr/>
          <p:nvPr/>
        </p:nvSpPr>
        <p:spPr>
          <a:xfrm>
            <a:off x="8476488" y="1874520"/>
            <a:ext cx="3520440" cy="50292"/>
          </a:xfrm>
          <a:prstGeom prst="rect">
            <a:avLst/>
          </a:prstGeom>
          <a:solidFill>
            <a:srgbClr val="C4CCD4"/>
          </a:solidFill>
          <a:ln/>
        </p:spPr>
      </p:sp>
      <p:sp>
        <p:nvSpPr>
          <p:cNvPr id="27" name="Text 25"/>
          <p:cNvSpPr/>
          <p:nvPr/>
        </p:nvSpPr>
        <p:spPr>
          <a:xfrm>
            <a:off x="8476488" y="2011680"/>
            <a:ext cx="3520440" cy="365760"/>
          </a:xfrm>
          <a:prstGeom prst="rect">
            <a:avLst/>
          </a:prstGeom>
          <a:noFill/>
          <a:ln/>
        </p:spPr>
        <p:txBody>
          <a:bodyPr wrap="square" rtlCol="0" anchor="ctr"/>
          <a:lstStyle/>
          <a:p>
            <a:pPr indent="0" marL="0">
              <a:buNone/>
            </a:pPr>
            <a:r>
              <a:rPr lang="en-US" sz="1600" b="1" dirty="0">
                <a:solidFill>
                  <a:srgbClr val="0F1724"/>
                </a:solidFill>
                <a:latin typeface="Arial" pitchFamily="34" charset="0"/>
                <a:ea typeface="Arial" pitchFamily="34" charset="-122"/>
                <a:cs typeface="Arial" pitchFamily="34" charset="-120"/>
              </a:rPr>
              <a:t>Being considered</a:t>
            </a:r>
            <a:endParaRPr lang="en-US" sz="1600" dirty="0"/>
          </a:p>
        </p:txBody>
      </p:sp>
      <p:sp>
        <p:nvSpPr>
          <p:cNvPr id="28" name="Text 26"/>
          <p:cNvSpPr/>
          <p:nvPr/>
        </p:nvSpPr>
        <p:spPr>
          <a:xfrm>
            <a:off x="8476488" y="2514600"/>
            <a:ext cx="182880" cy="274320"/>
          </a:xfrm>
          <a:prstGeom prst="rect">
            <a:avLst/>
          </a:prstGeom>
          <a:noFill/>
          <a:ln/>
        </p:spPr>
        <p:txBody>
          <a:bodyPr wrap="square" rtlCol="0" anchor="t"/>
          <a:lstStyle/>
          <a:p>
            <a:pPr indent="0" marL="0">
              <a:buNone/>
            </a:pPr>
            <a:r>
              <a:rPr lang="en-US" sz="1200" dirty="0">
                <a:solidFill>
                  <a:srgbClr val="C4CCD4"/>
                </a:solidFill>
                <a:latin typeface="Arial" pitchFamily="34" charset="0"/>
                <a:ea typeface="Arial" pitchFamily="34" charset="-122"/>
                <a:cs typeface="Arial" pitchFamily="34" charset="-120"/>
              </a:rPr>
              <a:t>•</a:t>
            </a:r>
            <a:endParaRPr lang="en-US" sz="1200" dirty="0"/>
          </a:p>
        </p:txBody>
      </p:sp>
      <p:sp>
        <p:nvSpPr>
          <p:cNvPr id="29" name="Text 27"/>
          <p:cNvSpPr/>
          <p:nvPr/>
        </p:nvSpPr>
        <p:spPr>
          <a:xfrm>
            <a:off x="8677656" y="2514600"/>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Scheduled and automated reporting</a:t>
            </a:r>
            <a:endParaRPr lang="en-US" sz="1150" dirty="0"/>
          </a:p>
        </p:txBody>
      </p:sp>
      <p:sp>
        <p:nvSpPr>
          <p:cNvPr id="30" name="Text 28"/>
          <p:cNvSpPr/>
          <p:nvPr/>
        </p:nvSpPr>
        <p:spPr>
          <a:xfrm>
            <a:off x="8476488" y="3081528"/>
            <a:ext cx="182880" cy="274320"/>
          </a:xfrm>
          <a:prstGeom prst="rect">
            <a:avLst/>
          </a:prstGeom>
          <a:noFill/>
          <a:ln/>
        </p:spPr>
        <p:txBody>
          <a:bodyPr wrap="square" rtlCol="0" anchor="t"/>
          <a:lstStyle/>
          <a:p>
            <a:pPr indent="0" marL="0">
              <a:buNone/>
            </a:pPr>
            <a:r>
              <a:rPr lang="en-US" sz="1200" dirty="0">
                <a:solidFill>
                  <a:srgbClr val="C4CCD4"/>
                </a:solidFill>
                <a:latin typeface="Arial" pitchFamily="34" charset="0"/>
                <a:ea typeface="Arial" pitchFamily="34" charset="-122"/>
                <a:cs typeface="Arial" pitchFamily="34" charset="-120"/>
              </a:rPr>
              <a:t>•</a:t>
            </a:r>
            <a:endParaRPr lang="en-US" sz="1200" dirty="0"/>
          </a:p>
        </p:txBody>
      </p:sp>
      <p:sp>
        <p:nvSpPr>
          <p:cNvPr id="31" name="Text 29"/>
          <p:cNvSpPr/>
          <p:nvPr/>
        </p:nvSpPr>
        <p:spPr>
          <a:xfrm>
            <a:off x="8677656" y="3081528"/>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Alerting on findings, not just reports</a:t>
            </a:r>
            <a:endParaRPr lang="en-US" sz="1150" dirty="0"/>
          </a:p>
        </p:txBody>
      </p:sp>
      <p:sp>
        <p:nvSpPr>
          <p:cNvPr id="32" name="Text 30"/>
          <p:cNvSpPr/>
          <p:nvPr/>
        </p:nvSpPr>
        <p:spPr>
          <a:xfrm>
            <a:off x="8476488" y="3648456"/>
            <a:ext cx="182880" cy="274320"/>
          </a:xfrm>
          <a:prstGeom prst="rect">
            <a:avLst/>
          </a:prstGeom>
          <a:noFill/>
          <a:ln/>
        </p:spPr>
        <p:txBody>
          <a:bodyPr wrap="square" rtlCol="0" anchor="t"/>
          <a:lstStyle/>
          <a:p>
            <a:pPr indent="0" marL="0">
              <a:buNone/>
            </a:pPr>
            <a:r>
              <a:rPr lang="en-US" sz="1200" dirty="0">
                <a:solidFill>
                  <a:srgbClr val="C4CCD4"/>
                </a:solidFill>
                <a:latin typeface="Arial" pitchFamily="34" charset="0"/>
                <a:ea typeface="Arial" pitchFamily="34" charset="-122"/>
                <a:cs typeface="Arial" pitchFamily="34" charset="-120"/>
              </a:rPr>
              <a:t>•</a:t>
            </a:r>
            <a:endParaRPr lang="en-US" sz="1200" dirty="0"/>
          </a:p>
        </p:txBody>
      </p:sp>
      <p:sp>
        <p:nvSpPr>
          <p:cNvPr id="33" name="Text 31"/>
          <p:cNvSpPr/>
          <p:nvPr/>
        </p:nvSpPr>
        <p:spPr>
          <a:xfrm>
            <a:off x="8677656" y="3648456"/>
            <a:ext cx="3319272" cy="548640"/>
          </a:xfrm>
          <a:prstGeom prst="rect">
            <a:avLst/>
          </a:prstGeom>
          <a:noFill/>
          <a:ln/>
        </p:spPr>
        <p:txBody>
          <a:bodyPr wrap="square" rtlCol="0" anchor="t"/>
          <a:lstStyle/>
          <a:p>
            <a:pPr indent="0" marL="0">
              <a:lnSpc>
                <a:spcPct val="115000"/>
              </a:lnSpc>
              <a:buNone/>
            </a:pPr>
            <a:r>
              <a:rPr lang="en-US" sz="1150" dirty="0">
                <a:solidFill>
                  <a:srgbClr val="5B6478"/>
                </a:solidFill>
                <a:latin typeface="Arial" pitchFamily="34" charset="0"/>
                <a:ea typeface="Arial" pitchFamily="34" charset="-122"/>
                <a:cs typeface="Arial" pitchFamily="34" charset="-120"/>
              </a:rPr>
              <a:t>Cross-KPI correlation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4"/>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B140"/>
          </a:solidFill>
          <a:ln/>
        </p:spPr>
      </p:sp>
      <p:sp>
        <p:nvSpPr>
          <p:cNvPr id="3" name="Text 1"/>
          <p:cNvSpPr/>
          <p:nvPr/>
        </p:nvSpPr>
        <p:spPr>
          <a:xfrm>
            <a:off x="777240" y="1920240"/>
            <a:ext cx="10637215" cy="73152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See it for yourself</a:t>
            </a:r>
            <a:endParaRPr lang="en-US" sz="3800" dirty="0"/>
          </a:p>
        </p:txBody>
      </p:sp>
      <p:sp>
        <p:nvSpPr>
          <p:cNvPr id="4" name="Text 2"/>
          <p:cNvSpPr/>
          <p:nvPr/>
        </p:nvSpPr>
        <p:spPr>
          <a:xfrm>
            <a:off x="777240" y="2743200"/>
            <a:ext cx="10637215" cy="457200"/>
          </a:xfrm>
          <a:prstGeom prst="rect">
            <a:avLst/>
          </a:prstGeom>
          <a:noFill/>
          <a:ln/>
        </p:spPr>
        <p:txBody>
          <a:bodyPr wrap="square" rtlCol="0" anchor="ctr"/>
          <a:lstStyle/>
          <a:p>
            <a:pPr indent="0" marL="0">
              <a:buNone/>
            </a:pPr>
            <a:r>
              <a:rPr lang="en-US" sz="1500" dirty="0">
                <a:solidFill>
                  <a:srgbClr val="9AA7B4"/>
                </a:solidFill>
                <a:latin typeface="Arial" pitchFamily="34" charset="0"/>
                <a:ea typeface="Arial" pitchFamily="34" charset="-122"/>
                <a:cs typeface="Arial" pitchFamily="34" charset="-120"/>
              </a:rPr>
              <a:t>The platform is running now. Bring a NetAct export and we can process it in the session.</a:t>
            </a:r>
            <a:endParaRPr lang="en-US" sz="1500" dirty="0"/>
          </a:p>
        </p:txBody>
      </p:sp>
      <p:sp>
        <p:nvSpPr>
          <p:cNvPr id="5" name="Shape 3"/>
          <p:cNvSpPr/>
          <p:nvPr/>
        </p:nvSpPr>
        <p:spPr>
          <a:xfrm>
            <a:off x="777240" y="3520440"/>
            <a:ext cx="5852160" cy="1234440"/>
          </a:xfrm>
          <a:prstGeom prst="roundRect">
            <a:avLst>
              <a:gd name="adj" fmla="val 4444"/>
            </a:avLst>
          </a:prstGeom>
          <a:solidFill>
            <a:srgbClr val="17202B"/>
          </a:solidFill>
          <a:ln w="12700">
            <a:solidFill>
              <a:srgbClr val="2A3441"/>
            </a:solidFill>
            <a:prstDash val="solid"/>
          </a:ln>
        </p:spPr>
      </p:sp>
      <p:sp>
        <p:nvSpPr>
          <p:cNvPr id="6" name="Text 4"/>
          <p:cNvSpPr/>
          <p:nvPr/>
        </p:nvSpPr>
        <p:spPr>
          <a:xfrm>
            <a:off x="1051560" y="3703320"/>
            <a:ext cx="5303520" cy="365760"/>
          </a:xfrm>
          <a:prstGeom prst="rect">
            <a:avLst/>
          </a:prstGeom>
          <a:noFill/>
          <a:ln/>
        </p:spPr>
        <p:txBody>
          <a:bodyPr wrap="square" rtlCol="0" anchor="ctr"/>
          <a:lstStyle/>
          <a:p>
            <a:pPr indent="0" marL="0">
              <a:buNone/>
            </a:pPr>
            <a:r>
              <a:rPr lang="en-US" sz="1700" b="1" dirty="0">
                <a:solidFill>
                  <a:srgbClr val="00B140"/>
                </a:solidFill>
                <a:latin typeface="Arial" pitchFamily="34" charset="0"/>
                <a:ea typeface="Arial" pitchFamily="34" charset="-122"/>
                <a:cs typeface="Arial" pitchFamily="34" charset="-120"/>
              </a:rPr>
              <a:t>bituinsight.vercel.app</a:t>
            </a:r>
            <a:endParaRPr lang="en-US" sz="1700" dirty="0"/>
          </a:p>
        </p:txBody>
      </p:sp>
      <p:sp>
        <p:nvSpPr>
          <p:cNvPr id="7" name="Text 5"/>
          <p:cNvSpPr/>
          <p:nvPr/>
        </p:nvSpPr>
        <p:spPr>
          <a:xfrm>
            <a:off x="1051560" y="4114800"/>
            <a:ext cx="5303520" cy="457200"/>
          </a:xfrm>
          <a:prstGeom prst="rect">
            <a:avLst/>
          </a:prstGeom>
          <a:noFill/>
          <a:ln/>
        </p:spPr>
        <p:txBody>
          <a:bodyPr wrap="square" rtlCol="0" anchor="ctr"/>
          <a:lstStyle/>
          <a:p>
            <a:pPr indent="0" marL="0">
              <a:buNone/>
            </a:pPr>
            <a:r>
              <a:rPr lang="en-US" sz="1150" dirty="0">
                <a:solidFill>
                  <a:srgbClr val="9AA7B4"/>
                </a:solidFill>
                <a:latin typeface="Arial" pitchFamily="34" charset="0"/>
                <a:ea typeface="Arial" pitchFamily="34" charset="-122"/>
                <a:cs typeface="Arial" pitchFamily="34" charset="-120"/>
              </a:rPr>
              <a:t>Ask for an account — access is granted per person.</a:t>
            </a:r>
            <a:endParaRPr lang="en-US" sz="1150" dirty="0"/>
          </a:p>
        </p:txBody>
      </p:sp>
      <p:sp>
        <p:nvSpPr>
          <p:cNvPr id="8" name="Text 6"/>
          <p:cNvSpPr/>
          <p:nvPr/>
        </p:nvSpPr>
        <p:spPr>
          <a:xfrm>
            <a:off x="777240" y="4983480"/>
            <a:ext cx="10637215" cy="457200"/>
          </a:xfrm>
          <a:prstGeom prst="rect">
            <a:avLst/>
          </a:prstGeom>
          <a:noFill/>
          <a:ln/>
        </p:spPr>
        <p:txBody>
          <a:bodyPr wrap="square" rtlCol="0" anchor="ctr"/>
          <a:lstStyle/>
          <a:p>
            <a:pPr indent="0" marL="0">
              <a:buNone/>
            </a:pPr>
            <a:r>
              <a:rPr lang="en-US" sz="1400" dirty="0">
                <a:solidFill>
                  <a:srgbClr val="9AA7B4"/>
                </a:solidFill>
                <a:latin typeface="Arial" pitchFamily="34" charset="0"/>
                <a:ea typeface="Arial" pitchFamily="34" charset="-122"/>
                <a:cs typeface="Arial" pitchFamily="34" charset="-120"/>
              </a:rPr>
              <a:t>Questions — and what you would want it to answer next.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Insight — Telecom KPI Analytics</dc:title>
  <dc:subject>Platform overview for team and stakeholders</dc:subject>
  <dc:creator>Core Insight</dc:creator>
  <cp:lastModifiedBy>Core Insight</cp:lastModifiedBy>
  <cp:revision>1</cp:revision>
  <dcterms:created xsi:type="dcterms:W3CDTF">2026-08-23T07:41:41Z</dcterms:created>
  <dcterms:modified xsi:type="dcterms:W3CDTF">2026-08-23T07:41:41Z</dcterms:modified>
</cp:coreProperties>
</file>